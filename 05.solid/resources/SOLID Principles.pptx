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7" r:id="rId3"/>
    <p:sldId id="761" r:id="rId4"/>
    <p:sldId id="772" r:id="rId5"/>
    <p:sldId id="773" r:id="rId6"/>
    <p:sldId id="774" r:id="rId7"/>
    <p:sldId id="775" r:id="rId8"/>
    <p:sldId id="776" r:id="rId9"/>
    <p:sldId id="777" r:id="rId10"/>
    <p:sldId id="785" r:id="rId11"/>
    <p:sldId id="762" r:id="rId12"/>
    <p:sldId id="778" r:id="rId13"/>
    <p:sldId id="779" r:id="rId14"/>
    <p:sldId id="780" r:id="rId15"/>
    <p:sldId id="781" r:id="rId16"/>
    <p:sldId id="782" r:id="rId17"/>
    <p:sldId id="783" r:id="rId18"/>
    <p:sldId id="784" r:id="rId19"/>
    <p:sldId id="771" r:id="rId20"/>
    <p:sldId id="786" r:id="rId21"/>
    <p:sldId id="788" r:id="rId22"/>
    <p:sldId id="795" r:id="rId23"/>
    <p:sldId id="794" r:id="rId24"/>
    <p:sldId id="796" r:id="rId25"/>
    <p:sldId id="797" r:id="rId26"/>
    <p:sldId id="793" r:id="rId27"/>
  </p:sldIdLst>
  <p:sldSz cx="12192000" cy="6858000"/>
  <p:notesSz cx="6858000" cy="9144000"/>
  <p:embeddedFontLst>
    <p:embeddedFont>
      <p:font typeface="Bangers" pitchFamily="2" charset="77"/>
      <p:regular r:id="rId29"/>
    </p:embeddedFont>
    <p:embeddedFont>
      <p:font typeface="Nunito Sans" panose="020F0502020204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85F900E2-58A5-4B43-BAB0-F2B409DF5F8D}">
          <p14:sldIdLst>
            <p14:sldId id="256"/>
          </p14:sldIdLst>
        </p14:section>
        <p14:section name="Connection" id="{B66BA68E-29A6-A140-88E2-B7AC4A48B1AD}">
          <p14:sldIdLst>
            <p14:sldId id="287"/>
          </p14:sldIdLst>
        </p14:section>
        <p14:section name="Concepts" id="{E1B8169A-4EB5-8D4E-AEA7-8D963B7182B0}">
          <p14:sldIdLst>
            <p14:sldId id="761"/>
            <p14:sldId id="772"/>
            <p14:sldId id="773"/>
            <p14:sldId id="774"/>
            <p14:sldId id="775"/>
            <p14:sldId id="776"/>
            <p14:sldId id="777"/>
          </p14:sldIdLst>
        </p14:section>
        <p14:section name="Concrete Practice" id="{6B08914D-FA29-9548-8D51-5A87209D38BA}">
          <p14:sldIdLst>
            <p14:sldId id="785"/>
            <p14:sldId id="762"/>
            <p14:sldId id="778"/>
            <p14:sldId id="779"/>
            <p14:sldId id="780"/>
            <p14:sldId id="781"/>
            <p14:sldId id="782"/>
            <p14:sldId id="783"/>
            <p14:sldId id="784"/>
            <p14:sldId id="771"/>
            <p14:sldId id="786"/>
            <p14:sldId id="788"/>
          </p14:sldIdLst>
        </p14:section>
        <p14:section name="Conclusion" id="{EFFB942C-94EA-6E40-9A23-5D4F95BFE189}">
          <p14:sldIdLst>
            <p14:sldId id="795"/>
            <p14:sldId id="794"/>
            <p14:sldId id="796"/>
            <p14:sldId id="797"/>
            <p14:sldId id="7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10" roundtripDataSignature="AMtx7mi66raeZFmtq8jL8Ck63AlRyG3G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91DE"/>
    <a:srgbClr val="EE1A23"/>
    <a:srgbClr val="FFFFFF"/>
    <a:srgbClr val="6F2E8A"/>
    <a:srgbClr val="692B84"/>
    <a:srgbClr val="1CB80E"/>
    <a:srgbClr val="212121"/>
    <a:srgbClr val="A8526F"/>
    <a:srgbClr val="75394D"/>
    <a:srgbClr val="D3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0E58EC-5DF9-D64E-801B-3DFBB0AD8873}" v="24" dt="2021-07-21T14:31:43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99"/>
    <p:restoredTop sz="70737"/>
  </p:normalViewPr>
  <p:slideViewPr>
    <p:cSldViewPr snapToGrid="0">
      <p:cViewPr varScale="1">
        <p:scale>
          <a:sx n="111" d="100"/>
          <a:sy n="111" d="100"/>
        </p:scale>
        <p:origin x="2728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11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11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110" Type="http://customschemas.google.com/relationships/presentationmetadata" Target="metadata"/><Relationship Id="rId11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n Thirion" userId="5bcfa94ed0e6ea65" providerId="LiveId" clId="{C40E58EC-5DF9-D64E-801B-3DFBB0AD8873}"/>
    <pc:docChg chg="undo custSel addSld modSld sldOrd modSection">
      <pc:chgData name="Yoan Thirion" userId="5bcfa94ed0e6ea65" providerId="LiveId" clId="{C40E58EC-5DF9-D64E-801B-3DFBB0AD8873}" dt="2021-07-21T14:34:26.152" v="139" actId="1076"/>
      <pc:docMkLst>
        <pc:docMk/>
      </pc:docMkLst>
      <pc:sldChg chg="addSp delSp modSp add mod ord modClrScheme chgLayout">
        <pc:chgData name="Yoan Thirion" userId="5bcfa94ed0e6ea65" providerId="LiveId" clId="{C40E58EC-5DF9-D64E-801B-3DFBB0AD8873}" dt="2021-07-21T14:27:20.306" v="69" actId="1076"/>
        <pc:sldMkLst>
          <pc:docMk/>
          <pc:sldMk cId="890657098" sldId="794"/>
        </pc:sldMkLst>
        <pc:spChg chg="del mod ord">
          <ac:chgData name="Yoan Thirion" userId="5bcfa94ed0e6ea65" providerId="LiveId" clId="{C40E58EC-5DF9-D64E-801B-3DFBB0AD8873}" dt="2021-07-21T14:26:19.243" v="58" actId="478"/>
          <ac:spMkLst>
            <pc:docMk/>
            <pc:sldMk cId="890657098" sldId="794"/>
            <ac:spMk id="2" creationId="{29D0A121-1A2F-304C-995C-C5AD751A28F1}"/>
          </ac:spMkLst>
        </pc:spChg>
        <pc:spChg chg="del mod">
          <ac:chgData name="Yoan Thirion" userId="5bcfa94ed0e6ea65" providerId="LiveId" clId="{C40E58EC-5DF9-D64E-801B-3DFBB0AD8873}" dt="2021-07-21T14:24:10.311" v="25" actId="478"/>
          <ac:spMkLst>
            <pc:docMk/>
            <pc:sldMk cId="890657098" sldId="794"/>
            <ac:spMk id="3" creationId="{CD2E4E11-2B91-E249-9B04-608CC09B4757}"/>
          </ac:spMkLst>
        </pc:spChg>
        <pc:spChg chg="del">
          <ac:chgData name="Yoan Thirion" userId="5bcfa94ed0e6ea65" providerId="LiveId" clId="{C40E58EC-5DF9-D64E-801B-3DFBB0AD8873}" dt="2021-07-21T14:24:10.311" v="25" actId="478"/>
          <ac:spMkLst>
            <pc:docMk/>
            <pc:sldMk cId="890657098" sldId="794"/>
            <ac:spMk id="5" creationId="{5E7697E8-D806-C045-BF56-95FCE5256DAD}"/>
          </ac:spMkLst>
        </pc:spChg>
        <pc:spChg chg="del">
          <ac:chgData name="Yoan Thirion" userId="5bcfa94ed0e6ea65" providerId="LiveId" clId="{C40E58EC-5DF9-D64E-801B-3DFBB0AD8873}" dt="2021-07-21T14:24:10.311" v="25" actId="478"/>
          <ac:spMkLst>
            <pc:docMk/>
            <pc:sldMk cId="890657098" sldId="794"/>
            <ac:spMk id="7" creationId="{06C5829C-EA5A-5E45-B49D-849EFB6DCD72}"/>
          </ac:spMkLst>
        </pc:spChg>
        <pc:spChg chg="del">
          <ac:chgData name="Yoan Thirion" userId="5bcfa94ed0e6ea65" providerId="LiveId" clId="{C40E58EC-5DF9-D64E-801B-3DFBB0AD8873}" dt="2021-07-21T14:24:10.311" v="25" actId="478"/>
          <ac:spMkLst>
            <pc:docMk/>
            <pc:sldMk cId="890657098" sldId="794"/>
            <ac:spMk id="8" creationId="{F1CEDBE8-9B01-4C49-9CA6-9A23EEAB07CD}"/>
          </ac:spMkLst>
        </pc:spChg>
        <pc:spChg chg="del">
          <ac:chgData name="Yoan Thirion" userId="5bcfa94ed0e6ea65" providerId="LiveId" clId="{C40E58EC-5DF9-D64E-801B-3DFBB0AD8873}" dt="2021-07-21T14:24:10.311" v="25" actId="478"/>
          <ac:spMkLst>
            <pc:docMk/>
            <pc:sldMk cId="890657098" sldId="794"/>
            <ac:spMk id="9" creationId="{A9EF7F7F-B9EB-644F-8134-2E134AD3C7E0}"/>
          </ac:spMkLst>
        </pc:spChg>
        <pc:spChg chg="add del mod">
          <ac:chgData name="Yoan Thirion" userId="5bcfa94ed0e6ea65" providerId="LiveId" clId="{C40E58EC-5DF9-D64E-801B-3DFBB0AD8873}" dt="2021-07-21T14:24:12.417" v="26" actId="478"/>
          <ac:spMkLst>
            <pc:docMk/>
            <pc:sldMk cId="890657098" sldId="794"/>
            <ac:spMk id="10" creationId="{220D6E2E-59F6-FE4D-8C50-4DCFEB936AA9}"/>
          </ac:spMkLst>
        </pc:spChg>
        <pc:spChg chg="add del mod ord">
          <ac:chgData name="Yoan Thirion" userId="5bcfa94ed0e6ea65" providerId="LiveId" clId="{C40E58EC-5DF9-D64E-801B-3DFBB0AD8873}" dt="2021-07-21T14:24:27.018" v="31" actId="478"/>
          <ac:spMkLst>
            <pc:docMk/>
            <pc:sldMk cId="890657098" sldId="794"/>
            <ac:spMk id="12" creationId="{D77861FE-D140-CA41-827C-E98EFE7345F3}"/>
          </ac:spMkLst>
        </pc:spChg>
        <pc:spChg chg="add del mod">
          <ac:chgData name="Yoan Thirion" userId="5bcfa94ed0e6ea65" providerId="LiveId" clId="{C40E58EC-5DF9-D64E-801B-3DFBB0AD8873}" dt="2021-07-21T14:26:05.521" v="52" actId="21"/>
          <ac:spMkLst>
            <pc:docMk/>
            <pc:sldMk cId="890657098" sldId="794"/>
            <ac:spMk id="13" creationId="{C392E473-6D4C-BA41-B97B-52AB4CD26FBC}"/>
          </ac:spMkLst>
        </pc:spChg>
        <pc:spChg chg="add del mod">
          <ac:chgData name="Yoan Thirion" userId="5bcfa94ed0e6ea65" providerId="LiveId" clId="{C40E58EC-5DF9-D64E-801B-3DFBB0AD8873}" dt="2021-07-21T14:26:21.534" v="59" actId="478"/>
          <ac:spMkLst>
            <pc:docMk/>
            <pc:sldMk cId="890657098" sldId="794"/>
            <ac:spMk id="15" creationId="{6F35D41C-4EED-E541-B953-55A10EA105A9}"/>
          </ac:spMkLst>
        </pc:spChg>
        <pc:picChg chg="del">
          <ac:chgData name="Yoan Thirion" userId="5bcfa94ed0e6ea65" providerId="LiveId" clId="{C40E58EC-5DF9-D64E-801B-3DFBB0AD8873}" dt="2021-07-21T14:23:41.519" v="24" actId="478"/>
          <ac:picMkLst>
            <pc:docMk/>
            <pc:sldMk cId="890657098" sldId="794"/>
            <ac:picMk id="4" creationId="{D792F4EF-66F2-A944-A195-959890D0C326}"/>
          </ac:picMkLst>
        </pc:picChg>
        <pc:picChg chg="add mod">
          <ac:chgData name="Yoan Thirion" userId="5bcfa94ed0e6ea65" providerId="LiveId" clId="{C40E58EC-5DF9-D64E-801B-3DFBB0AD8873}" dt="2021-07-21T14:27:18.516" v="68" actId="14100"/>
          <ac:picMkLst>
            <pc:docMk/>
            <pc:sldMk cId="890657098" sldId="794"/>
            <ac:picMk id="11" creationId="{2EA6764D-99B7-C34A-A13A-8B5173976142}"/>
          </ac:picMkLst>
        </pc:picChg>
        <pc:picChg chg="add mod">
          <ac:chgData name="Yoan Thirion" userId="5bcfa94ed0e6ea65" providerId="LiveId" clId="{C40E58EC-5DF9-D64E-801B-3DFBB0AD8873}" dt="2021-07-21T14:27:20.306" v="69" actId="1076"/>
          <ac:picMkLst>
            <pc:docMk/>
            <pc:sldMk cId="890657098" sldId="794"/>
            <ac:picMk id="16" creationId="{B80297C2-9D84-514B-A27A-365EA1BCD583}"/>
          </ac:picMkLst>
        </pc:picChg>
      </pc:sldChg>
      <pc:sldChg chg="addSp delSp modSp add mod ord">
        <pc:chgData name="Yoan Thirion" userId="5bcfa94ed0e6ea65" providerId="LiveId" clId="{C40E58EC-5DF9-D64E-801B-3DFBB0AD8873}" dt="2021-07-21T14:26:15.132" v="57" actId="1076"/>
        <pc:sldMkLst>
          <pc:docMk/>
          <pc:sldMk cId="3186421217" sldId="795"/>
        </pc:sldMkLst>
        <pc:spChg chg="mod">
          <ac:chgData name="Yoan Thirion" userId="5bcfa94ed0e6ea65" providerId="LiveId" clId="{C40E58EC-5DF9-D64E-801B-3DFBB0AD8873}" dt="2021-07-21T14:25:22.612" v="46"/>
          <ac:spMkLst>
            <pc:docMk/>
            <pc:sldMk cId="3186421217" sldId="795"/>
            <ac:spMk id="4" creationId="{009B1726-9F2D-2446-8929-FA5C5D2ECF7B}"/>
          </ac:spMkLst>
        </pc:spChg>
        <pc:spChg chg="add mod">
          <ac:chgData name="Yoan Thirion" userId="5bcfa94ed0e6ea65" providerId="LiveId" clId="{C40E58EC-5DF9-D64E-801B-3DFBB0AD8873}" dt="2021-07-21T14:26:09.976" v="54" actId="207"/>
          <ac:spMkLst>
            <pc:docMk/>
            <pc:sldMk cId="3186421217" sldId="795"/>
            <ac:spMk id="5" creationId="{59C43911-04A8-A649-A02C-500ADFC74F01}"/>
          </ac:spMkLst>
        </pc:spChg>
        <pc:picChg chg="add mod">
          <ac:chgData name="Yoan Thirion" userId="5bcfa94ed0e6ea65" providerId="LiveId" clId="{C40E58EC-5DF9-D64E-801B-3DFBB0AD8873}" dt="2021-07-21T14:26:15.132" v="57" actId="1076"/>
          <ac:picMkLst>
            <pc:docMk/>
            <pc:sldMk cId="3186421217" sldId="795"/>
            <ac:picMk id="1026" creationId="{914ED45E-0293-6D4B-B940-A536A3C37E57}"/>
          </ac:picMkLst>
        </pc:picChg>
        <pc:picChg chg="del">
          <ac:chgData name="Yoan Thirion" userId="5bcfa94ed0e6ea65" providerId="LiveId" clId="{C40E58EC-5DF9-D64E-801B-3DFBB0AD8873}" dt="2021-07-21T14:25:24.282" v="47" actId="478"/>
          <ac:picMkLst>
            <pc:docMk/>
            <pc:sldMk cId="3186421217" sldId="795"/>
            <ac:picMk id="3074" creationId="{8738F0F1-8C62-C842-A538-DD2F518BF8C9}"/>
          </ac:picMkLst>
        </pc:picChg>
      </pc:sldChg>
      <pc:sldChg chg="addSp delSp modSp add mod">
        <pc:chgData name="Yoan Thirion" userId="5bcfa94ed0e6ea65" providerId="LiveId" clId="{C40E58EC-5DF9-D64E-801B-3DFBB0AD8873}" dt="2021-07-21T14:31:17.433" v="128" actId="1076"/>
        <pc:sldMkLst>
          <pc:docMk/>
          <pc:sldMk cId="222303404" sldId="796"/>
        </pc:sldMkLst>
        <pc:spChg chg="add del mod">
          <ac:chgData name="Yoan Thirion" userId="5bcfa94ed0e6ea65" providerId="LiveId" clId="{C40E58EC-5DF9-D64E-801B-3DFBB0AD8873}" dt="2021-07-21T14:28:00.941" v="74" actId="478"/>
          <ac:spMkLst>
            <pc:docMk/>
            <pc:sldMk cId="222303404" sldId="796"/>
            <ac:spMk id="2" creationId="{A5580B1D-AED9-3A4A-B444-74522C863108}"/>
          </ac:spMkLst>
        </pc:spChg>
        <pc:picChg chg="add mod">
          <ac:chgData name="Yoan Thirion" userId="5bcfa94ed0e6ea65" providerId="LiveId" clId="{C40E58EC-5DF9-D64E-801B-3DFBB0AD8873}" dt="2021-07-21T14:31:17.433" v="128" actId="1076"/>
          <ac:picMkLst>
            <pc:docMk/>
            <pc:sldMk cId="222303404" sldId="796"/>
            <ac:picMk id="3" creationId="{91590F4A-84A4-A546-B641-9124A110A1EB}"/>
          </ac:picMkLst>
        </pc:picChg>
        <pc:picChg chg="add del mod">
          <ac:chgData name="Yoan Thirion" userId="5bcfa94ed0e6ea65" providerId="LiveId" clId="{C40E58EC-5DF9-D64E-801B-3DFBB0AD8873}" dt="2021-07-21T14:31:09.622" v="124" actId="478"/>
          <ac:picMkLst>
            <pc:docMk/>
            <pc:sldMk cId="222303404" sldId="796"/>
            <ac:picMk id="4" creationId="{4DE173BA-FDB4-A149-9F4B-A8FAAE676BA4}"/>
          </ac:picMkLst>
        </pc:picChg>
        <pc:picChg chg="add del mod">
          <ac:chgData name="Yoan Thirion" userId="5bcfa94ed0e6ea65" providerId="LiveId" clId="{C40E58EC-5DF9-D64E-801B-3DFBB0AD8873}" dt="2021-07-21T14:31:09.622" v="124" actId="478"/>
          <ac:picMkLst>
            <pc:docMk/>
            <pc:sldMk cId="222303404" sldId="796"/>
            <ac:picMk id="5" creationId="{5DECF120-6635-2B4C-B414-B94D0092E2C1}"/>
          </ac:picMkLst>
        </pc:picChg>
        <pc:picChg chg="add del mod">
          <ac:chgData name="Yoan Thirion" userId="5bcfa94ed0e6ea65" providerId="LiveId" clId="{C40E58EC-5DF9-D64E-801B-3DFBB0AD8873}" dt="2021-07-21T14:31:09.622" v="124" actId="478"/>
          <ac:picMkLst>
            <pc:docMk/>
            <pc:sldMk cId="222303404" sldId="796"/>
            <ac:picMk id="6" creationId="{DA514FBA-9BBA-6F45-BC77-85C41A0B7360}"/>
          </ac:picMkLst>
        </pc:picChg>
        <pc:picChg chg="add del mod">
          <ac:chgData name="Yoan Thirion" userId="5bcfa94ed0e6ea65" providerId="LiveId" clId="{C40E58EC-5DF9-D64E-801B-3DFBB0AD8873}" dt="2021-07-21T14:31:09.622" v="124" actId="478"/>
          <ac:picMkLst>
            <pc:docMk/>
            <pc:sldMk cId="222303404" sldId="796"/>
            <ac:picMk id="7" creationId="{D5FF3D4F-6BE7-D74E-8962-41DAD6D93290}"/>
          </ac:picMkLst>
        </pc:picChg>
        <pc:picChg chg="del">
          <ac:chgData name="Yoan Thirion" userId="5bcfa94ed0e6ea65" providerId="LiveId" clId="{C40E58EC-5DF9-D64E-801B-3DFBB0AD8873}" dt="2021-07-21T14:27:37.558" v="71" actId="478"/>
          <ac:picMkLst>
            <pc:docMk/>
            <pc:sldMk cId="222303404" sldId="796"/>
            <ac:picMk id="11" creationId="{2EA6764D-99B7-C34A-A13A-8B5173976142}"/>
          </ac:picMkLst>
        </pc:picChg>
        <pc:picChg chg="del">
          <ac:chgData name="Yoan Thirion" userId="5bcfa94ed0e6ea65" providerId="LiveId" clId="{C40E58EC-5DF9-D64E-801B-3DFBB0AD8873}" dt="2021-07-21T14:27:39.158" v="72" actId="478"/>
          <ac:picMkLst>
            <pc:docMk/>
            <pc:sldMk cId="222303404" sldId="796"/>
            <ac:picMk id="16" creationId="{B80297C2-9D84-514B-A27A-365EA1BCD583}"/>
          </ac:picMkLst>
        </pc:picChg>
      </pc:sldChg>
      <pc:sldChg chg="addSp delSp modSp add mod">
        <pc:chgData name="Yoan Thirion" userId="5bcfa94ed0e6ea65" providerId="LiveId" clId="{C40E58EC-5DF9-D64E-801B-3DFBB0AD8873}" dt="2021-07-21T14:34:26.152" v="139" actId="1076"/>
        <pc:sldMkLst>
          <pc:docMk/>
          <pc:sldMk cId="3549549356" sldId="797"/>
        </pc:sldMkLst>
        <pc:spChg chg="add del mod">
          <ac:chgData name="Yoan Thirion" userId="5bcfa94ed0e6ea65" providerId="LiveId" clId="{C40E58EC-5DF9-D64E-801B-3DFBB0AD8873}" dt="2021-07-21T14:31:48.589" v="134"/>
          <ac:spMkLst>
            <pc:docMk/>
            <pc:sldMk cId="3549549356" sldId="797"/>
            <ac:spMk id="8" creationId="{CFD1D93A-B373-024A-9740-4E11E08C6B44}"/>
          </ac:spMkLst>
        </pc:spChg>
        <pc:picChg chg="add mod">
          <ac:chgData name="Yoan Thirion" userId="5bcfa94ed0e6ea65" providerId="LiveId" clId="{C40E58EC-5DF9-D64E-801B-3DFBB0AD8873}" dt="2021-07-21T14:34:26.152" v="139" actId="1076"/>
          <ac:picMkLst>
            <pc:docMk/>
            <pc:sldMk cId="3549549356" sldId="797"/>
            <ac:picMk id="2" creationId="{4D856F3C-B055-1C40-B020-896586974B17}"/>
          </ac:picMkLst>
        </pc:picChg>
        <pc:picChg chg="mod">
          <ac:chgData name="Yoan Thirion" userId="5bcfa94ed0e6ea65" providerId="LiveId" clId="{C40E58EC-5DF9-D64E-801B-3DFBB0AD8873}" dt="2021-07-21T14:34:17.388" v="136" actId="1076"/>
          <ac:picMkLst>
            <pc:docMk/>
            <pc:sldMk cId="3549549356" sldId="797"/>
            <ac:picMk id="4" creationId="{4DE173BA-FDB4-A149-9F4B-A8FAAE676BA4}"/>
          </ac:picMkLst>
        </pc:picChg>
        <pc:picChg chg="mod">
          <ac:chgData name="Yoan Thirion" userId="5bcfa94ed0e6ea65" providerId="LiveId" clId="{C40E58EC-5DF9-D64E-801B-3DFBB0AD8873}" dt="2021-07-21T14:34:22.530" v="138" actId="1076"/>
          <ac:picMkLst>
            <pc:docMk/>
            <pc:sldMk cId="3549549356" sldId="797"/>
            <ac:picMk id="5" creationId="{5DECF120-6635-2B4C-B414-B94D0092E2C1}"/>
          </ac:picMkLst>
        </pc:picChg>
        <pc:picChg chg="mod">
          <ac:chgData name="Yoan Thirion" userId="5bcfa94ed0e6ea65" providerId="LiveId" clId="{C40E58EC-5DF9-D64E-801B-3DFBB0AD8873}" dt="2021-07-21T14:34:20.920" v="137" actId="1076"/>
          <ac:picMkLst>
            <pc:docMk/>
            <pc:sldMk cId="3549549356" sldId="797"/>
            <ac:picMk id="6" creationId="{DA514FBA-9BBA-6F45-BC77-85C41A0B7360}"/>
          </ac:picMkLst>
        </pc:picChg>
      </pc:sldChg>
    </pc:docChg>
  </pc:docChgLst>
  <pc:docChgLst>
    <pc:chgData name="Yoan Thirion" userId="5bcfa94ed0e6ea65" providerId="LiveId" clId="{27230BDB-193D-1146-A868-C8E0839303DD}"/>
    <pc:docChg chg="modSld">
      <pc:chgData name="Yoan Thirion" userId="5bcfa94ed0e6ea65" providerId="LiveId" clId="{27230BDB-193D-1146-A868-C8E0839303DD}" dt="2020-11-20T10:31:56.247" v="82" actId="207"/>
      <pc:docMkLst>
        <pc:docMk/>
      </pc:docMkLst>
      <pc:sldChg chg="modTransition">
        <pc:chgData name="Yoan Thirion" userId="5bcfa94ed0e6ea65" providerId="LiveId" clId="{27230BDB-193D-1146-A868-C8E0839303DD}" dt="2020-11-20T09:30:32.629" v="1"/>
        <pc:sldMkLst>
          <pc:docMk/>
          <pc:sldMk cId="3076550668" sldId="256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83852492" sldId="287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81093944" sldId="761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763217006" sldId="762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97363704" sldId="771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386054244" sldId="772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872812629" sldId="773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590453802" sldId="774"/>
        </pc:sldMkLst>
      </pc:sldChg>
      <pc:sldChg chg="modSp mod modTransition modNotesTx">
        <pc:chgData name="Yoan Thirion" userId="5bcfa94ed0e6ea65" providerId="LiveId" clId="{27230BDB-193D-1146-A868-C8E0839303DD}" dt="2020-11-20T10:31:56.247" v="82" actId="207"/>
        <pc:sldMkLst>
          <pc:docMk/>
          <pc:sldMk cId="1285794231" sldId="775"/>
        </pc:sldMkLst>
        <pc:spChg chg="mod">
          <ac:chgData name="Yoan Thirion" userId="5bcfa94ed0e6ea65" providerId="LiveId" clId="{27230BDB-193D-1146-A868-C8E0839303DD}" dt="2020-11-20T10:31:56.247" v="82" actId="207"/>
          <ac:spMkLst>
            <pc:docMk/>
            <pc:sldMk cId="1285794231" sldId="775"/>
            <ac:spMk id="10" creationId="{D933C4E0-15C2-4536-806D-7E85C86E7082}"/>
          </ac:spMkLst>
        </pc:spChg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832536161" sldId="776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23457472" sldId="777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741444726" sldId="778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636058797" sldId="779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313307389" sldId="780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331901873" sldId="781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961934540" sldId="782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424245881" sldId="783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239233478" sldId="784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247816157" sldId="785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1583498991" sldId="786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3536061445" sldId="788"/>
        </pc:sldMkLst>
      </pc:sldChg>
      <pc:sldChg chg="modTransition">
        <pc:chgData name="Yoan Thirion" userId="5bcfa94ed0e6ea65" providerId="LiveId" clId="{27230BDB-193D-1146-A868-C8E0839303DD}" dt="2020-11-20T09:30:32.629" v="1"/>
        <pc:sldMkLst>
          <pc:docMk/>
          <pc:sldMk cId="2354341650" sldId="793"/>
        </pc:sldMkLst>
      </pc:sldChg>
    </pc:docChg>
  </pc:docChgLst>
  <pc:docChgLst>
    <pc:chgData name="Yoan Thirion" userId="5bcfa94ed0e6ea65" providerId="LiveId" clId="{1F3A0B6C-93EA-5448-B423-D79591A9E8EB}"/>
    <pc:docChg chg="undo custSel addSld modSld modSection">
      <pc:chgData name="Yoan Thirion" userId="5bcfa94ed0e6ea65" providerId="LiveId" clId="{1F3A0B6C-93EA-5448-B423-D79591A9E8EB}" dt="2020-10-21T09:39:25.226" v="327" actId="1076"/>
      <pc:docMkLst>
        <pc:docMk/>
      </pc:docMkLst>
      <pc:sldChg chg="addSp delSp modSp mod modClrScheme chgLayout">
        <pc:chgData name="Yoan Thirion" userId="5bcfa94ed0e6ea65" providerId="LiveId" clId="{1F3A0B6C-93EA-5448-B423-D79591A9E8EB}" dt="2020-10-21T09:29:24.515" v="80" actId="1076"/>
        <pc:sldMkLst>
          <pc:docMk/>
          <pc:sldMk cId="2354049509" sldId="486"/>
        </pc:sldMkLst>
        <pc:spChg chg="add del mod ord">
          <ac:chgData name="Yoan Thirion" userId="5bcfa94ed0e6ea65" providerId="LiveId" clId="{1F3A0B6C-93EA-5448-B423-D79591A9E8EB}" dt="2020-10-21T09:26:24.029" v="8" actId="700"/>
          <ac:spMkLst>
            <pc:docMk/>
            <pc:sldMk cId="2354049509" sldId="486"/>
            <ac:spMk id="2" creationId="{FBEFE57D-7095-514B-A4C2-4A6759C6413A}"/>
          </ac:spMkLst>
        </pc:spChg>
        <pc:spChg chg="mod ord">
          <ac:chgData name="Yoan Thirion" userId="5bcfa94ed0e6ea65" providerId="LiveId" clId="{1F3A0B6C-93EA-5448-B423-D79591A9E8EB}" dt="2020-10-21T09:29:20.190" v="78" actId="404"/>
          <ac:spMkLst>
            <pc:docMk/>
            <pc:sldMk cId="2354049509" sldId="486"/>
            <ac:spMk id="7" creationId="{154DC571-B8BD-404F-BE56-D4F42569BC57}"/>
          </ac:spMkLst>
        </pc:spChg>
        <pc:picChg chg="add mod">
          <ac:chgData name="Yoan Thirion" userId="5bcfa94ed0e6ea65" providerId="LiveId" clId="{1F3A0B6C-93EA-5448-B423-D79591A9E8EB}" dt="2020-10-21T09:29:24.515" v="80" actId="1076"/>
          <ac:picMkLst>
            <pc:docMk/>
            <pc:sldMk cId="2354049509" sldId="486"/>
            <ac:picMk id="1026" creationId="{AE700378-DF27-D44C-8F60-9A70EC5E8313}"/>
          </ac:picMkLst>
        </pc:picChg>
      </pc:sldChg>
      <pc:sldChg chg="add">
        <pc:chgData name="Yoan Thirion" userId="5bcfa94ed0e6ea65" providerId="LiveId" clId="{1F3A0B6C-93EA-5448-B423-D79591A9E8EB}" dt="2020-10-21T09:26:01.988" v="0" actId="2890"/>
        <pc:sldMkLst>
          <pc:docMk/>
          <pc:sldMk cId="3844719543" sldId="794"/>
        </pc:sldMkLst>
      </pc:sldChg>
      <pc:sldChg chg="addSp delSp modSp add mod modClrScheme chgLayout">
        <pc:chgData name="Yoan Thirion" userId="5bcfa94ed0e6ea65" providerId="LiveId" clId="{1F3A0B6C-93EA-5448-B423-D79591A9E8EB}" dt="2020-10-21T09:39:25.226" v="327" actId="1076"/>
        <pc:sldMkLst>
          <pc:docMk/>
          <pc:sldMk cId="1979316968" sldId="795"/>
        </pc:sldMkLst>
        <pc:spChg chg="add del mod ord">
          <ac:chgData name="Yoan Thirion" userId="5bcfa94ed0e6ea65" providerId="LiveId" clId="{1F3A0B6C-93EA-5448-B423-D79591A9E8EB}" dt="2020-10-21T09:30:54.822" v="130" actId="478"/>
          <ac:spMkLst>
            <pc:docMk/>
            <pc:sldMk cId="1979316968" sldId="795"/>
            <ac:spMk id="2" creationId="{A8AD8DA1-3A13-6147-B1EB-F515AD93AF36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3" creationId="{555AD3F0-6926-124C-B46B-00D51FBA4152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4" creationId="{5352E67C-3742-2646-A4F2-0647DCCD59B3}"/>
          </ac:spMkLst>
        </pc:spChg>
        <pc:spChg chg="add del mod">
          <ac:chgData name="Yoan Thirion" userId="5bcfa94ed0e6ea65" providerId="LiveId" clId="{1F3A0B6C-93EA-5448-B423-D79591A9E8EB}" dt="2020-10-21T09:30:56.455" v="131" actId="478"/>
          <ac:spMkLst>
            <pc:docMk/>
            <pc:sldMk cId="1979316968" sldId="795"/>
            <ac:spMk id="6" creationId="{BCDD8A9C-7EB8-1445-AE94-EEB75E15EEA0}"/>
          </ac:spMkLst>
        </pc:spChg>
        <pc:spChg chg="mod ord">
          <ac:chgData name="Yoan Thirion" userId="5bcfa94ed0e6ea65" providerId="LiveId" clId="{1F3A0B6C-93EA-5448-B423-D79591A9E8EB}" dt="2020-10-21T09:38:35.863" v="306" actId="1035"/>
          <ac:spMkLst>
            <pc:docMk/>
            <pc:sldMk cId="1979316968" sldId="795"/>
            <ac:spMk id="7" creationId="{154DC571-B8BD-404F-BE56-D4F42569BC57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8" creationId="{EA69AB8A-5A80-A141-A6EC-70EA9C6EC83E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9" creationId="{DBF8AD7F-3D60-A24F-879D-66070F6EAFD6}"/>
          </ac:spMkLst>
        </pc:spChg>
        <pc:spChg chg="add del mod">
          <ac:chgData name="Yoan Thirion" userId="5bcfa94ed0e6ea65" providerId="LiveId" clId="{1F3A0B6C-93EA-5448-B423-D79591A9E8EB}" dt="2020-10-21T09:33:28.390" v="168" actId="478"/>
          <ac:spMkLst>
            <pc:docMk/>
            <pc:sldMk cId="1979316968" sldId="795"/>
            <ac:spMk id="10" creationId="{D7D65856-0AFC-344A-9ABA-1C4DFDF7CDF9}"/>
          </ac:spMkLst>
        </pc:spChg>
        <pc:spChg chg="add del mod">
          <ac:chgData name="Yoan Thirion" userId="5bcfa94ed0e6ea65" providerId="LiveId" clId="{1F3A0B6C-93EA-5448-B423-D79591A9E8EB}" dt="2020-10-21T09:36:45.838" v="220" actId="478"/>
          <ac:spMkLst>
            <pc:docMk/>
            <pc:sldMk cId="1979316968" sldId="795"/>
            <ac:spMk id="11" creationId="{B71E77C3-695B-074C-AD4D-765584C979B5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12" creationId="{04C62C0B-6615-4E4E-80F6-139D49E412C5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13" creationId="{80585A72-5D64-8546-A23E-E8827936A138}"/>
          </ac:spMkLst>
        </pc:spChg>
        <pc:spChg chg="add del mod">
          <ac:chgData name="Yoan Thirion" userId="5bcfa94ed0e6ea65" providerId="LiveId" clId="{1F3A0B6C-93EA-5448-B423-D79591A9E8EB}" dt="2020-10-21T09:37:00.395" v="253"/>
          <ac:spMkLst>
            <pc:docMk/>
            <pc:sldMk cId="1979316968" sldId="795"/>
            <ac:spMk id="14" creationId="{B7FE3D20-6588-AB44-BDCE-11AE9801CAB5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15" creationId="{12B5F9D4-F919-1F49-8463-43C10B8CA38B}"/>
          </ac:spMkLst>
        </pc:spChg>
        <pc:spChg chg="add mod">
          <ac:chgData name="Yoan Thirion" userId="5bcfa94ed0e6ea65" providerId="LiveId" clId="{1F3A0B6C-93EA-5448-B423-D79591A9E8EB}" dt="2020-10-21T09:39:20.687" v="326" actId="1036"/>
          <ac:spMkLst>
            <pc:docMk/>
            <pc:sldMk cId="1979316968" sldId="795"/>
            <ac:spMk id="16" creationId="{989B6435-228E-3643-85A6-9FB341B90651}"/>
          </ac:spMkLst>
        </pc:spChg>
        <pc:spChg chg="add del mod ord">
          <ac:chgData name="Yoan Thirion" userId="5bcfa94ed0e6ea65" providerId="LiveId" clId="{1F3A0B6C-93EA-5448-B423-D79591A9E8EB}" dt="2020-10-21T09:37:56.803" v="267" actId="478"/>
          <ac:spMkLst>
            <pc:docMk/>
            <pc:sldMk cId="1979316968" sldId="795"/>
            <ac:spMk id="17" creationId="{F580BC2C-ACE9-D74A-9435-0D4520386AA1}"/>
          </ac:spMkLst>
        </pc:spChg>
        <pc:picChg chg="add mod">
          <ac:chgData name="Yoan Thirion" userId="5bcfa94ed0e6ea65" providerId="LiveId" clId="{1F3A0B6C-93EA-5448-B423-D79591A9E8EB}" dt="2020-10-21T09:39:25.226" v="327" actId="1076"/>
          <ac:picMkLst>
            <pc:docMk/>
            <pc:sldMk cId="1979316968" sldId="795"/>
            <ac:picMk id="2050" creationId="{334EC650-822C-094B-9B39-39ADED4DC2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215722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45050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 dirty="0"/>
              <a:t>Can </a:t>
            </a:r>
            <a:r>
              <a:rPr lang="fr-BE" b="1" dirty="0" err="1"/>
              <a:t>you</a:t>
            </a:r>
            <a:r>
              <a:rPr lang="fr-BE" b="1" dirty="0"/>
              <a:t> </a:t>
            </a:r>
            <a:r>
              <a:rPr lang="fr-BE" b="1" dirty="0" err="1"/>
              <a:t>guess</a:t>
            </a:r>
            <a:r>
              <a:rPr lang="fr-BE" b="1" dirty="0"/>
              <a:t> ?</a:t>
            </a:r>
          </a:p>
          <a:p>
            <a:r>
              <a:rPr lang="fr-BE" dirty="0"/>
              <a:t>http://williamdurand.fr/2013/07/30/from-stupid-to-solid-code/</a:t>
            </a:r>
          </a:p>
          <a:p>
            <a:endParaRPr lang="fr-B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BE" dirty="0"/>
              <a:t>SRP - </a:t>
            </a:r>
            <a:r>
              <a:rPr lang="en-GB" dirty="0"/>
              <a:t>A class should have only one responsibility.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OCP - A software module (it can be a class or method ) should be open for extension but closed for modification.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LSV - Derived classes must be substitutable for their base classes.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ISP - Clients should not be forced to depend upon the interfaces that they do not use.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DIP - Program to an interface, not to an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95594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examples of responsibilities to consider that may need to be separated include: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Persistence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 Handling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 Selection / Instantiation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639487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Creating software entities whose behavior can be changed without the need to edit and recompile the code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3685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C23232"/>
                </a:solidFill>
              </a:rPr>
              <a:t>LSP violation </a:t>
            </a:r>
            <a:r>
              <a:rPr lang="en-US" dirty="0"/>
              <a:t>: presence of type checking code within a code block that should be polymorphic.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est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un sous-type de T,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alors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tout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objet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type T 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peut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être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remplacé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par un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objet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 type S sans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altérer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les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propriétés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désirables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programme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concerné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57327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Barmeno Std Regular" panose="02000506050000020004"/>
              </a:rPr>
              <a:t>Favor </a:t>
            </a:r>
            <a:r>
              <a:rPr lang="en-US" sz="1400" dirty="0">
                <a:solidFill>
                  <a:srgbClr val="C23232"/>
                </a:solidFill>
                <a:latin typeface="Barmeno Std Regular" panose="02000506050000020004"/>
              </a:rPr>
              <a:t>thin</a:t>
            </a:r>
            <a:r>
              <a:rPr lang="en-US" sz="1200" dirty="0">
                <a:latin typeface="Barmeno Std Regular" panose="02000506050000020004"/>
              </a:rPr>
              <a:t>, </a:t>
            </a:r>
            <a:r>
              <a:rPr lang="en-US" sz="1400" dirty="0">
                <a:solidFill>
                  <a:srgbClr val="C23232"/>
                </a:solidFill>
                <a:latin typeface="Barmeno Std Regular" panose="02000506050000020004"/>
              </a:rPr>
              <a:t>focused</a:t>
            </a:r>
            <a:r>
              <a:rPr lang="en-US" sz="1200" dirty="0">
                <a:latin typeface="Barmeno Std Regular" panose="02000506050000020004"/>
              </a:rPr>
              <a:t> interfaces to “fat” interfaces</a:t>
            </a:r>
            <a:endParaRPr lang="fr-FR" sz="1200" dirty="0">
              <a:latin typeface="Barmeno Std Regular" panose="020005060500000200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69838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Abstractions should not depend on details.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Details should depend upon abstractions.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40521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8077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172073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96493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04859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868532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66934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341770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15314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70464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6872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5462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76627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247558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3 level of training application</a:t>
            </a:r>
          </a:p>
          <a:p>
            <a:r>
              <a:rPr lang="en-GB" dirty="0"/>
              <a:t>Think about what you have learned, assess your level of readiness to use what you’ve learned</a:t>
            </a:r>
          </a:p>
          <a:p>
            <a:r>
              <a:rPr lang="en-GB" dirty="0"/>
              <a:t>Stand where you have chosen</a:t>
            </a:r>
          </a:p>
          <a:p>
            <a:endParaRPr lang="en-GB" dirty="0"/>
          </a:p>
          <a:p>
            <a:r>
              <a:rPr lang="en-GB" dirty="0"/>
              <a:t>In pairs : If you are standing in the </a:t>
            </a:r>
          </a:p>
          <a:p>
            <a:pPr lvl="1"/>
            <a:r>
              <a:rPr lang="en-GB" dirty="0"/>
              <a:t>“not quite yet” : what will it take for you to move to “on the way”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n-GB" dirty="0"/>
              <a:t>“on the way” : what will it take for you to move to “ready to roll”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n-GB" dirty="0"/>
              <a:t>“ready to roll” : what will it take for you to move to continue learning</a:t>
            </a:r>
          </a:p>
          <a:p>
            <a:pPr marL="914400" marR="0" lvl="1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endParaRPr lang="en-GB" dirty="0"/>
          </a:p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tabLst/>
              <a:defRPr/>
            </a:pPr>
            <a:r>
              <a:rPr lang="en-GB" dirty="0"/>
              <a:t>Ask for verbal summaries of what they discussed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4B16F-32CA-462E-BFE4-D18932B5283A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1641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hyperlink" Target="https://twitter.com/yot88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an-thirion.com/" TargetMode="External"/><Relationship Id="rId13" Type="http://schemas.openxmlformats.org/officeDocument/2006/relationships/image" Target="../media/image11.png"/><Relationship Id="rId3" Type="http://schemas.openxmlformats.org/officeDocument/2006/relationships/image" Target="../media/image4.tiff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twitter.com/yot88" TargetMode="External"/><Relationship Id="rId11" Type="http://schemas.openxmlformats.org/officeDocument/2006/relationships/image" Target="../media/image9.png"/><Relationship Id="rId5" Type="http://schemas.openxmlformats.org/officeDocument/2006/relationships/image" Target="../media/image5.tiff"/><Relationship Id="rId10" Type="http://schemas.openxmlformats.org/officeDocument/2006/relationships/image" Target="../media/image8.png"/><Relationship Id="rId4" Type="http://schemas.openxmlformats.org/officeDocument/2006/relationships/hyperlink" Target="https://www.linkedin.com/in/yoanthirion/" TargetMode="External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2">
            <a:extLst>
              <a:ext uri="{FF2B5EF4-FFF2-40B4-BE49-F238E27FC236}">
                <a16:creationId xmlns:a16="http://schemas.microsoft.com/office/drawing/2014/main" id="{E6D8AC2F-5B5B-A74F-A586-F98A69573C4E}"/>
              </a:ext>
            </a:extLst>
          </p:cNvPr>
          <p:cNvSpPr/>
          <p:nvPr userDrawn="1"/>
        </p:nvSpPr>
        <p:spPr>
          <a:xfrm>
            <a:off x="0" y="0"/>
            <a:ext cx="12214800" cy="6857999"/>
          </a:xfrm>
          <a:prstGeom prst="rect">
            <a:avLst/>
          </a:prstGeom>
          <a:solidFill>
            <a:srgbClr val="4C91DE">
              <a:alpha val="72157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EAB852-1142-F942-AD9A-0B053284A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9146" y="2646794"/>
            <a:ext cx="8795881" cy="1006474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FR" dirty="0"/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2C1A7F30-FF79-364C-837E-590DF2A7D66E}"/>
              </a:ext>
            </a:extLst>
          </p:cNvPr>
          <p:cNvSpPr txBox="1"/>
          <p:nvPr userDrawn="1"/>
        </p:nvSpPr>
        <p:spPr>
          <a:xfrm>
            <a:off x="6835962" y="3746239"/>
            <a:ext cx="160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Bangers" pitchFamily="2" charset="77"/>
              </a:rPr>
              <a:t>B</a:t>
            </a:r>
            <a:r>
              <a:rPr lang="en-FR" sz="1400" dirty="0">
                <a:solidFill>
                  <a:schemeClr val="bg1"/>
                </a:solidFill>
                <a:latin typeface="Bangers" pitchFamily="2" charset="77"/>
              </a:rPr>
              <a:t>y yoan thirion</a:t>
            </a:r>
          </a:p>
        </p:txBody>
      </p:sp>
    </p:spTree>
    <p:extLst>
      <p:ext uri="{BB962C8B-B14F-4D97-AF65-F5344CB8AC3E}">
        <p14:creationId xmlns:p14="http://schemas.microsoft.com/office/powerpoint/2010/main" val="392556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83;p2">
            <a:extLst>
              <a:ext uri="{FF2B5EF4-FFF2-40B4-BE49-F238E27FC236}">
                <a16:creationId xmlns:a16="http://schemas.microsoft.com/office/drawing/2014/main" id="{E6D8AC2F-5B5B-A74F-A586-F98A69573C4E}"/>
              </a:ext>
            </a:extLst>
          </p:cNvPr>
          <p:cNvSpPr/>
          <p:nvPr userDrawn="1"/>
        </p:nvSpPr>
        <p:spPr>
          <a:xfrm>
            <a:off x="0" y="0"/>
            <a:ext cx="12214800" cy="6857999"/>
          </a:xfrm>
          <a:prstGeom prst="rect">
            <a:avLst/>
          </a:prstGeom>
          <a:solidFill>
            <a:srgbClr val="4C91DE">
              <a:alpha val="72157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EAB852-1142-F942-AD9A-0B053284A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714" y="984069"/>
            <a:ext cx="11817313" cy="4319451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9630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 userDrawn="1">
  <p:cSld name="1_Main 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1944600" y="183568"/>
            <a:ext cx="8302800" cy="82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rgbClr val="4C91DE"/>
                </a:solidFill>
                <a:latin typeface="Bangers" pitchFamily="2" charset="77"/>
                <a:ea typeface="Gaegu" pitchFamily="2" charset="0"/>
                <a:cs typeface="Bangers" pitchFamily="2" charset="7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410C3-102A-4F47-B8C2-ECFAA199B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967" y="1252025"/>
            <a:ext cx="11150600" cy="3924649"/>
          </a:xfrm>
          <a:prstGeom prst="rect">
            <a:avLst/>
          </a:prstGeom>
        </p:spPr>
        <p:txBody>
          <a:bodyPr/>
          <a:lstStyle>
            <a:lvl1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1pPr>
            <a:lvl2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2pPr>
            <a:lvl3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3pPr>
            <a:lvl4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4pPr>
            <a:lvl5pPr>
              <a:defRPr lang="en-FR" sz="2800" b="0" i="0" u="none" strike="noStrike" cap="none" dirty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50304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 preserve="1" userDrawn="1">
  <p:cSld name="1_Main point">
    <p:bg>
      <p:bgPr>
        <a:solidFill>
          <a:schemeClr val="bg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9A2C5F-B161-DF4C-BEB2-F4CF2AA6E9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1944600" y="183568"/>
            <a:ext cx="8302800" cy="82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rgbClr val="4C91DE"/>
                </a:solidFill>
                <a:latin typeface="Bangers" pitchFamily="2" charset="77"/>
                <a:ea typeface="Gaegu" pitchFamily="2" charset="0"/>
                <a:cs typeface="Bangers" pitchFamily="2" charset="7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rPr lang="en-US"/>
              <a:t>Click to edit Master title style</a:t>
            </a:r>
            <a:endParaRPr lang="en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410C3-102A-4F47-B8C2-ECFAA199B0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967" y="1252025"/>
            <a:ext cx="11150600" cy="5422407"/>
          </a:xfrm>
          <a:prstGeom prst="rect">
            <a:avLst/>
          </a:prstGeom>
        </p:spPr>
        <p:txBody>
          <a:bodyPr/>
          <a:lstStyle>
            <a:lvl1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1pPr>
            <a:lvl2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2pPr>
            <a:lvl3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3pPr>
            <a:lvl4pPr>
              <a:defRPr lang="en-US" sz="2800" b="0" i="0" u="none" strike="noStrike" cap="none" dirty="0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4pPr>
            <a:lvl5pPr>
              <a:defRPr lang="en-FR" sz="2800" b="0" i="0" u="none" strike="noStrike" cap="none" dirty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6E3D90-5D59-6347-8518-06B55C80EB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249087" y="481833"/>
            <a:ext cx="837810" cy="83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81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7"/>
          <p:cNvSpPr txBox="1">
            <a:spLocks noGrp="1"/>
          </p:cNvSpPr>
          <p:nvPr>
            <p:ph type="title"/>
          </p:nvPr>
        </p:nvSpPr>
        <p:spPr>
          <a:xfrm>
            <a:off x="301437" y="839971"/>
            <a:ext cx="3744000" cy="90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800">
                <a:solidFill>
                  <a:srgbClr val="4C91DE"/>
                </a:solidFill>
                <a:latin typeface="Bangers" pitchFamily="2" charset="77"/>
                <a:ea typeface="Gaegu" pitchFamily="2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body" idx="1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03195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lang="en-US" sz="2000" b="0" i="0" u="none" strike="noStrike" cap="none" smtClean="0">
                <a:solidFill>
                  <a:srgbClr val="555555"/>
                </a:solidFill>
                <a:effectLst/>
                <a:latin typeface="Bangers" pitchFamily="2" charset="77"/>
                <a:ea typeface="Arial"/>
                <a:cs typeface="Arial"/>
                <a:sym typeface="Arial"/>
              </a:defRPr>
            </a:lvl1pPr>
            <a:lvl2pPr marL="1219170" lvl="1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2pPr>
            <a:lvl3pPr marL="1828754" lvl="2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3pPr>
            <a:lvl4pPr marL="2438339" lvl="3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4pPr>
            <a:lvl5pPr marL="3047924" lvl="4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5pPr>
            <a:lvl6pPr marL="3657509" lvl="5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6pPr>
            <a:lvl7pPr marL="4267093" lvl="6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600">
                <a:solidFill>
                  <a:schemeClr val="lt1"/>
                </a:solidFill>
              </a:defRPr>
            </a:lvl7pPr>
            <a:lvl8pPr marL="4876678" lvl="7" indent="-40639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600">
                <a:solidFill>
                  <a:schemeClr val="lt1"/>
                </a:solidFill>
              </a:defRPr>
            </a:lvl8pPr>
            <a:lvl9pPr marL="5486263" lvl="8" indent="-40639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2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38E9B-B725-5F41-8CC6-62375C7FEA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17168" y="-1"/>
            <a:ext cx="7874832" cy="6858001"/>
          </a:xfrm>
          <a:prstGeom prst="rect">
            <a:avLst/>
          </a:prstGeom>
          <a:solidFill>
            <a:srgbClr val="4C91DE">
              <a:alpha val="60000"/>
            </a:srgbClr>
          </a:solidFill>
        </p:spPr>
        <p:txBody>
          <a:bodyPr/>
          <a:lstStyle>
            <a:lvl1pPr>
              <a:defRPr sz="32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1pPr>
            <a:lvl2pPr>
              <a:defRPr sz="32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2pPr>
            <a:lvl3pPr>
              <a:defRPr sz="32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3pPr>
            <a:lvl4pPr>
              <a:defRPr sz="32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4pPr>
            <a:lvl5pPr>
              <a:defRPr sz="3200">
                <a:solidFill>
                  <a:schemeClr val="bg1"/>
                </a:solidFill>
                <a:latin typeface="Bangers" pitchFamily="2" charset="77"/>
                <a:ea typeface="Gaegu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 preserve="1" userDrawn="1">
  <p:cSld name="1_Main poi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67BE35-DA42-A143-8FEB-E650F6CB57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12A0635-DD6B-E54C-B492-E936830D0441}"/>
              </a:ext>
            </a:extLst>
          </p:cNvPr>
          <p:cNvSpPr/>
          <p:nvPr userDrawn="1"/>
        </p:nvSpPr>
        <p:spPr>
          <a:xfrm>
            <a:off x="4831069" y="117068"/>
            <a:ext cx="252986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US" sz="4800" dirty="0">
                <a:solidFill>
                  <a:srgbClr val="4C91DE"/>
                </a:solidFill>
                <a:latin typeface="Bangers" pitchFamily="2" charset="77"/>
              </a:rPr>
              <a:t>Who am I 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ABBE223-7C38-284D-9C22-DFC4B785EC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2865" r="44685" b="5846"/>
          <a:stretch/>
        </p:blipFill>
        <p:spPr>
          <a:xfrm>
            <a:off x="10781425" y="81307"/>
            <a:ext cx="1397969" cy="1801677"/>
          </a:xfrm>
          <a:prstGeom prst="rect">
            <a:avLst/>
          </a:prstGeom>
          <a:ln w="76200">
            <a:solidFill>
              <a:srgbClr val="4C91DE"/>
            </a:solidFill>
          </a:ln>
          <a:effectLst/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29D2E36-E972-9E46-9043-25A2E7DDC048}"/>
              </a:ext>
            </a:extLst>
          </p:cNvPr>
          <p:cNvSpPr/>
          <p:nvPr userDrawn="1"/>
        </p:nvSpPr>
        <p:spPr>
          <a:xfrm>
            <a:off x="4342319" y="967685"/>
            <a:ext cx="3507359" cy="338554"/>
          </a:xfrm>
          <a:prstGeom prst="rect">
            <a:avLst/>
          </a:prstGeom>
          <a:solidFill>
            <a:srgbClr val="4C91D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angers" pitchFamily="2" charset="77"/>
              </a:rPr>
              <a:t>Technical Agile coach, Software craftsman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49351F-944E-B943-A5BD-A5D50BAD10AB}"/>
              </a:ext>
            </a:extLst>
          </p:cNvPr>
          <p:cNvSpPr/>
          <p:nvPr userDrawn="1"/>
        </p:nvSpPr>
        <p:spPr>
          <a:xfrm>
            <a:off x="701824" y="1622501"/>
            <a:ext cx="3994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4C91DE"/>
                </a:solidFill>
                <a:latin typeface="Bangers" pitchFamily="2" charset="77"/>
              </a:rPr>
              <a:t>I’m Yoan THIRION </a:t>
            </a:r>
            <a:r>
              <a:rPr lang="en-US" sz="1800" dirty="0">
                <a:solidFill>
                  <a:srgbClr val="4C91DE"/>
                </a:solidFill>
                <a:latin typeface="Bangers" pitchFamily="2" charset="77"/>
              </a:rPr>
              <a:t>(freelance)</a:t>
            </a:r>
            <a:endParaRPr lang="en-US" sz="2400" dirty="0">
              <a:solidFill>
                <a:srgbClr val="4C91DE"/>
              </a:solidFill>
              <a:latin typeface="Bangers" pitchFamily="2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0AF441-A38A-9C40-8B68-BF851F711768}"/>
              </a:ext>
            </a:extLst>
          </p:cNvPr>
          <p:cNvSpPr/>
          <p:nvPr userDrawn="1"/>
        </p:nvSpPr>
        <p:spPr>
          <a:xfrm>
            <a:off x="701824" y="2147263"/>
            <a:ext cx="10585342" cy="1241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Bangers" pitchFamily="2" charset="77"/>
              </a:rPr>
              <a:t>design software since more than 12 years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Bangers" pitchFamily="2" charset="77"/>
              </a:rPr>
              <a:t>fundamental to succeed in that area : agility and technical excellence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Bangers" pitchFamily="2" charset="77"/>
              </a:rPr>
              <a:t>help teams deliver well crafted software </a:t>
            </a:r>
          </a:p>
          <a:p>
            <a:pPr marL="342900" lvl="5" indent="-3429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Bangers" pitchFamily="2" charset="77"/>
              </a:rPr>
              <a:t>implementation of agile and technical practices (</a:t>
            </a:r>
            <a:r>
              <a:rPr lang="en-US" b="0" i="0" dirty="0" err="1">
                <a:solidFill>
                  <a:srgbClr val="555555"/>
                </a:solidFill>
                <a:effectLst/>
                <a:latin typeface="Bangers" pitchFamily="2" charset="77"/>
              </a:rPr>
              <a:t>eXtreme</a:t>
            </a:r>
            <a:r>
              <a:rPr lang="en-US" b="0" i="0" dirty="0">
                <a:solidFill>
                  <a:srgbClr val="555555"/>
                </a:solidFill>
                <a:effectLst/>
                <a:latin typeface="Bangers" pitchFamily="2" charset="77"/>
              </a:rPr>
              <a:t> programming, Refactoring, DDD, Mob programming, …)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877234-152D-C242-B883-5E97D0347DB0}"/>
              </a:ext>
            </a:extLst>
          </p:cNvPr>
          <p:cNvSpPr txBox="1"/>
          <p:nvPr userDrawn="1"/>
        </p:nvSpPr>
        <p:spPr>
          <a:xfrm>
            <a:off x="7950261" y="3955845"/>
            <a:ext cx="1649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400" dirty="0">
                <a:solidFill>
                  <a:srgbClr val="4C91DE"/>
                </a:solidFill>
                <a:latin typeface="Bangers" pitchFamily="2" charset="77"/>
              </a:rPr>
              <a:t>Let’s connect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6BEC77-7EF3-D445-BF73-B9FB71B3C23B}"/>
              </a:ext>
            </a:extLst>
          </p:cNvPr>
          <p:cNvSpPr/>
          <p:nvPr userDrawn="1"/>
        </p:nvSpPr>
        <p:spPr>
          <a:xfrm>
            <a:off x="701824" y="3641270"/>
            <a:ext cx="3994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dirty="0">
                <a:solidFill>
                  <a:srgbClr val="4C91DE"/>
                </a:solidFill>
                <a:latin typeface="Bangers" pitchFamily="2" charset="77"/>
              </a:rPr>
              <a:t>My services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88DCC7-3582-DD48-B0A0-9CF2C9E2A7B5}"/>
              </a:ext>
            </a:extLst>
          </p:cNvPr>
          <p:cNvSpPr/>
          <p:nvPr userDrawn="1"/>
        </p:nvSpPr>
        <p:spPr>
          <a:xfrm>
            <a:off x="624836" y="1664680"/>
            <a:ext cx="45719" cy="377305"/>
          </a:xfrm>
          <a:prstGeom prst="rect">
            <a:avLst/>
          </a:prstGeom>
          <a:solidFill>
            <a:srgbClr val="4C91D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0FB94E-3963-C64C-B1E0-00B1BC99CDA9}"/>
              </a:ext>
            </a:extLst>
          </p:cNvPr>
          <p:cNvSpPr/>
          <p:nvPr userDrawn="1"/>
        </p:nvSpPr>
        <p:spPr>
          <a:xfrm>
            <a:off x="624836" y="3683449"/>
            <a:ext cx="45719" cy="377305"/>
          </a:xfrm>
          <a:prstGeom prst="rect">
            <a:avLst/>
          </a:prstGeom>
          <a:solidFill>
            <a:srgbClr val="4C91D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BC0D5E-F56C-6943-A2B4-4D8664CDC2CC}"/>
              </a:ext>
            </a:extLst>
          </p:cNvPr>
          <p:cNvSpPr/>
          <p:nvPr userDrawn="1"/>
        </p:nvSpPr>
        <p:spPr>
          <a:xfrm>
            <a:off x="7807559" y="3998024"/>
            <a:ext cx="45719" cy="377305"/>
          </a:xfrm>
          <a:prstGeom prst="rect">
            <a:avLst/>
          </a:prstGeom>
          <a:solidFill>
            <a:srgbClr val="4C91D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0" name="Picture 29">
            <a:hlinkClick r:id="rId4"/>
            <a:extLst>
              <a:ext uri="{FF2B5EF4-FFF2-40B4-BE49-F238E27FC236}">
                <a16:creationId xmlns:a16="http://schemas.microsoft.com/office/drawing/2014/main" id="{C2295C4A-739B-AA41-9E81-54DF1833FE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18614" y="4826755"/>
            <a:ext cx="776427" cy="776427"/>
          </a:xfrm>
          <a:prstGeom prst="rect">
            <a:avLst/>
          </a:prstGeom>
        </p:spPr>
      </p:pic>
      <p:pic>
        <p:nvPicPr>
          <p:cNvPr id="31" name="Picture 30" descr="A close up of a logo&#10;&#10;Description automatically generated">
            <a:hlinkClick r:id="rId6"/>
            <a:extLst>
              <a:ext uri="{FF2B5EF4-FFF2-40B4-BE49-F238E27FC236}">
                <a16:creationId xmlns:a16="http://schemas.microsoft.com/office/drawing/2014/main" id="{F6D5EED3-D3D8-344E-9E08-DD4F5E14AD4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687584" y="4738719"/>
            <a:ext cx="952500" cy="9525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285524F-FE9C-844B-AB11-B5008D581588}"/>
              </a:ext>
            </a:extLst>
          </p:cNvPr>
          <p:cNvSpPr/>
          <p:nvPr userDrawn="1"/>
        </p:nvSpPr>
        <p:spPr>
          <a:xfrm>
            <a:off x="7211276" y="5882220"/>
            <a:ext cx="3127779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4C91DE"/>
                </a:solidFill>
                <a:latin typeface="Bangers" pitchFamily="2" charset="77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https://www.yoan-thirion.com/</a:t>
            </a:r>
            <a:endParaRPr lang="en-FR" dirty="0">
              <a:solidFill>
                <a:srgbClr val="4C91DE"/>
              </a:solidFill>
              <a:latin typeface="Bangers" pitchFamily="2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EFC1C6-1163-DA46-A417-D28F2B9C6C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1699" r="29163" b="37616"/>
          <a:stretch/>
        </p:blipFill>
        <p:spPr>
          <a:xfrm>
            <a:off x="1150292" y="4252828"/>
            <a:ext cx="649081" cy="6050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B10EB10-634D-5A49-8A92-69D0D2DF0D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30347" r="34235" b="33286"/>
          <a:stretch/>
        </p:blipFill>
        <p:spPr>
          <a:xfrm>
            <a:off x="2949665" y="4229200"/>
            <a:ext cx="643451" cy="708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5F5A8-F7B9-0E4D-A37B-8FE61F673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 l="35027" r="35344" b="32321"/>
          <a:stretch/>
        </p:blipFill>
        <p:spPr>
          <a:xfrm>
            <a:off x="4831069" y="4229199"/>
            <a:ext cx="530594" cy="708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2D2A98-5AFE-044E-BD89-8AE6A0342D03}"/>
              </a:ext>
            </a:extLst>
          </p:cNvPr>
          <p:cNvSpPr/>
          <p:nvPr userDrawn="1"/>
        </p:nvSpPr>
        <p:spPr>
          <a:xfrm>
            <a:off x="701824" y="4937971"/>
            <a:ext cx="155202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555555"/>
                </a:solidFill>
                <a:effectLst/>
                <a:latin typeface="Bangers" pitchFamily="2" charset="77"/>
              </a:rPr>
              <a:t>Technical agile coaching</a:t>
            </a:r>
            <a:endParaRPr lang="en-FR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704D30-D406-414B-830C-BB87B5EFA950}"/>
              </a:ext>
            </a:extLst>
          </p:cNvPr>
          <p:cNvSpPr/>
          <p:nvPr userDrawn="1"/>
        </p:nvSpPr>
        <p:spPr>
          <a:xfrm>
            <a:off x="2495376" y="4937970"/>
            <a:ext cx="153279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555555"/>
                </a:solidFill>
                <a:effectLst/>
                <a:latin typeface="Bangers" pitchFamily="2" charset="77"/>
              </a:rPr>
              <a:t>Communities of practice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6855F2-0B93-6F41-B111-4E95FB7B5516}"/>
              </a:ext>
            </a:extLst>
          </p:cNvPr>
          <p:cNvSpPr/>
          <p:nvPr userDrawn="1"/>
        </p:nvSpPr>
        <p:spPr>
          <a:xfrm>
            <a:off x="4551184" y="4937970"/>
            <a:ext cx="109036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555555"/>
                </a:solidFill>
                <a:effectLst/>
                <a:latin typeface="Bangers" pitchFamily="2" charset="77"/>
              </a:rPr>
              <a:t>Cultural change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240283-7A1F-6F4C-9F56-36C2AB59B94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73182" y="5394874"/>
            <a:ext cx="1003300" cy="6604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7B3983C-C4B8-DD44-99A8-7CB90775BE45}"/>
              </a:ext>
            </a:extLst>
          </p:cNvPr>
          <p:cNvSpPr/>
          <p:nvPr userDrawn="1"/>
        </p:nvSpPr>
        <p:spPr>
          <a:xfrm>
            <a:off x="1148451" y="6063008"/>
            <a:ext cx="5613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 err="1">
                <a:solidFill>
                  <a:srgbClr val="555555"/>
                </a:solidFill>
                <a:effectLst/>
                <a:latin typeface="Bangers" pitchFamily="2" charset="77"/>
              </a:rPr>
              <a:t>devops</a:t>
            </a:r>
            <a:endParaRPr lang="en-FR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C8900F-2824-D546-811F-4358D4F1CDA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87034" y="5491380"/>
            <a:ext cx="805218" cy="56059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9948C12-8313-1C46-B615-2793B55C9F79}"/>
              </a:ext>
            </a:extLst>
          </p:cNvPr>
          <p:cNvSpPr/>
          <p:nvPr userDrawn="1"/>
        </p:nvSpPr>
        <p:spPr>
          <a:xfrm>
            <a:off x="2858274" y="6087419"/>
            <a:ext cx="86273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555555"/>
                </a:solidFill>
                <a:effectLst/>
                <a:latin typeface="Bangers" pitchFamily="2" charset="77"/>
              </a:rPr>
              <a:t>Brown bags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2555A-FDAE-AE44-A7CA-DABAD6A9C4A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695986" y="5445456"/>
            <a:ext cx="887029" cy="617552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15EA4DE-3B34-7548-AEF4-89F3254C88E2}"/>
              </a:ext>
            </a:extLst>
          </p:cNvPr>
          <p:cNvSpPr/>
          <p:nvPr userDrawn="1"/>
        </p:nvSpPr>
        <p:spPr>
          <a:xfrm>
            <a:off x="4613305" y="6087419"/>
            <a:ext cx="9957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555555"/>
                </a:solidFill>
                <a:effectLst/>
                <a:latin typeface="Bangers" pitchFamily="2" charset="77"/>
              </a:rPr>
              <a:t>Serious games</a:t>
            </a:r>
          </a:p>
        </p:txBody>
      </p:sp>
    </p:spTree>
    <p:extLst>
      <p:ext uri="{BB962C8B-B14F-4D97-AF65-F5344CB8AC3E}">
        <p14:creationId xmlns:p14="http://schemas.microsoft.com/office/powerpoint/2010/main" val="303054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s://twitter.com/yot88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D6C6F7B4-5F19-D048-8066-BBA73F782CD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569ABB-8613-3349-8685-4014FEE4CAE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49087" y="481833"/>
            <a:ext cx="837810" cy="837810"/>
          </a:xfrm>
          <a:prstGeom prst="rect">
            <a:avLst/>
          </a:prstGeom>
        </p:spPr>
      </p:pic>
      <p:sp>
        <p:nvSpPr>
          <p:cNvPr id="11" name="TextBox 10">
            <a:hlinkClick r:id="rId10"/>
            <a:extLst>
              <a:ext uri="{FF2B5EF4-FFF2-40B4-BE49-F238E27FC236}">
                <a16:creationId xmlns:a16="http://schemas.microsoft.com/office/drawing/2014/main" id="{6C813005-9E98-0B44-B747-4B621646E596}"/>
              </a:ext>
            </a:extLst>
          </p:cNvPr>
          <p:cNvSpPr txBox="1"/>
          <p:nvPr userDrawn="1"/>
        </p:nvSpPr>
        <p:spPr>
          <a:xfrm rot="16200000">
            <a:off x="825992" y="6113519"/>
            <a:ext cx="8000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1400" dirty="0">
                <a:solidFill>
                  <a:schemeClr val="bg1"/>
                </a:solidFill>
                <a:latin typeface="Bangers" pitchFamily="2" charset="77"/>
              </a:rPr>
              <a:t>@yot88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6" r:id="rId2"/>
    <p:sldLayoutId id="2147483659" r:id="rId3"/>
    <p:sldLayoutId id="2147483657" r:id="rId4"/>
    <p:sldLayoutId id="2147483654" r:id="rId5"/>
    <p:sldLayoutId id="2147483660" r:id="rId6"/>
  </p:sldLayoutIdLst>
  <p:transition spd="slow">
    <p:push dir="r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emf"/><Relationship Id="rId5" Type="http://schemas.openxmlformats.org/officeDocument/2006/relationships/slide" Target="slide19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emf"/><Relationship Id="rId5" Type="http://schemas.openxmlformats.org/officeDocument/2006/relationships/slide" Target="slide19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emf"/><Relationship Id="rId5" Type="http://schemas.openxmlformats.org/officeDocument/2006/relationships/slide" Target="slide19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emf"/><Relationship Id="rId5" Type="http://schemas.openxmlformats.org/officeDocument/2006/relationships/slide" Target="slide19.xml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7.emf"/><Relationship Id="rId5" Type="http://schemas.openxmlformats.org/officeDocument/2006/relationships/slide" Target="slide19.xml"/><Relationship Id="rId4" Type="http://schemas.openxmlformats.org/officeDocument/2006/relationships/image" Target="../media/image46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emf"/><Relationship Id="rId5" Type="http://schemas.openxmlformats.org/officeDocument/2006/relationships/slide" Target="slide19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emf"/><Relationship Id="rId5" Type="http://schemas.openxmlformats.org/officeDocument/2006/relationships/slide" Target="slide19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emf"/><Relationship Id="rId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16.xml"/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12" Type="http://schemas.openxmlformats.org/officeDocument/2006/relationships/slide" Target="slide15.xml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eg"/><Relationship Id="rId11" Type="http://schemas.openxmlformats.org/officeDocument/2006/relationships/slide" Target="slide14.xml"/><Relationship Id="rId5" Type="http://schemas.openxmlformats.org/officeDocument/2006/relationships/image" Target="../media/image29.jpeg"/><Relationship Id="rId15" Type="http://schemas.openxmlformats.org/officeDocument/2006/relationships/slide" Target="slide17.xml"/><Relationship Id="rId10" Type="http://schemas.openxmlformats.org/officeDocument/2006/relationships/slide" Target="slide13.xml"/><Relationship Id="rId4" Type="http://schemas.openxmlformats.org/officeDocument/2006/relationships/image" Target="../media/image28.jpeg"/><Relationship Id="rId9" Type="http://schemas.openxmlformats.org/officeDocument/2006/relationships/slide" Target="slide12.xml"/><Relationship Id="rId14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thirion/solid-kat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akerdeck.com/tastapod/cupid-for-joyful-coding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0B17-1C02-3D4B-A260-4B9BB1C5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146" y="2646794"/>
            <a:ext cx="8795881" cy="1006474"/>
          </a:xfrm>
        </p:spPr>
        <p:txBody>
          <a:bodyPr/>
          <a:lstStyle/>
          <a:p>
            <a:r>
              <a:rPr lang="fr-FR" sz="6000" dirty="0"/>
              <a:t>S.O.L.I.D </a:t>
            </a:r>
            <a:r>
              <a:rPr lang="fr-FR" sz="6000" dirty="0" err="1"/>
              <a:t>principles</a:t>
            </a:r>
            <a:endParaRPr lang="en-FR" sz="6000" dirty="0"/>
          </a:p>
        </p:txBody>
      </p:sp>
      <p:pic>
        <p:nvPicPr>
          <p:cNvPr id="1028" name="Picture 4" descr="balancing a barbell on finger">
            <a:extLst>
              <a:ext uri="{FF2B5EF4-FFF2-40B4-BE49-F238E27FC236}">
                <a16:creationId xmlns:a16="http://schemas.microsoft.com/office/drawing/2014/main" id="{AFBA556C-139E-734F-82E9-627CD4F21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04" y="1281490"/>
            <a:ext cx="3737082" cy="373708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55066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6D4BD3-8C2A-E548-9587-1442DA3C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00" y="183568"/>
            <a:ext cx="8302800" cy="828029"/>
          </a:xfrm>
        </p:spPr>
        <p:txBody>
          <a:bodyPr/>
          <a:lstStyle/>
          <a:p>
            <a:r>
              <a:rPr lang="fr-FR" dirty="0" err="1"/>
              <a:t>bad</a:t>
            </a:r>
            <a:r>
              <a:rPr lang="fr-FR" dirty="0"/>
              <a:t> code / Good code</a:t>
            </a:r>
            <a:endParaRPr lang="en-F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D9342B-2B91-204A-A79B-1FAA1B5BD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Bad code </a:t>
            </a:r>
            <a:r>
              <a:rPr lang="en-US" dirty="0">
                <a:solidFill>
                  <a:srgbClr val="4C91DE"/>
                </a:solidFill>
              </a:rPr>
              <a:t>vs</a:t>
            </a:r>
            <a:r>
              <a:rPr lang="en-US" dirty="0"/>
              <a:t> Good code</a:t>
            </a:r>
          </a:p>
          <a:p>
            <a:r>
              <a:rPr lang="en-US" dirty="0"/>
              <a:t>Categorize each piece of code</a:t>
            </a:r>
          </a:p>
        </p:txBody>
      </p:sp>
      <p:pic>
        <p:nvPicPr>
          <p:cNvPr id="2052" name="Picture 4" descr="Bitmoji Image">
            <a:extLst>
              <a:ext uri="{FF2B5EF4-FFF2-40B4-BE49-F238E27FC236}">
                <a16:creationId xmlns:a16="http://schemas.microsoft.com/office/drawing/2014/main" id="{9ECD4A44-A86D-2B48-A044-3280BF50D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11297" y="2033815"/>
            <a:ext cx="3358874" cy="335887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Bitmoji Image">
            <a:extLst>
              <a:ext uri="{FF2B5EF4-FFF2-40B4-BE49-F238E27FC236}">
                <a16:creationId xmlns:a16="http://schemas.microsoft.com/office/drawing/2014/main" id="{36BFCEA8-5BB7-634F-9706-475D27B5A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84712" y="2162196"/>
            <a:ext cx="3601277" cy="36012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5249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E35581-D11F-4372-BB06-C392F7363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92" y="301677"/>
            <a:ext cx="7819616" cy="625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394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68214" y="1508373"/>
            <a:ext cx="4302781" cy="3539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733" b="1" dirty="0">
                <a:solidFill>
                  <a:srgbClr val="4C91DE"/>
                </a:solidFill>
                <a:latin typeface="Bangers" pitchFamily="2" charset="77"/>
              </a:rPr>
              <a:t>S</a:t>
            </a:r>
            <a:r>
              <a:rPr lang="en-GB" sz="3733" dirty="0">
                <a:solidFill>
                  <a:srgbClr val="676C6E"/>
                </a:solidFill>
                <a:latin typeface="Bangers" pitchFamily="2" charset="77"/>
              </a:rPr>
              <a:t>ingleton</a:t>
            </a:r>
          </a:p>
          <a:p>
            <a:r>
              <a:rPr lang="en-GB" sz="3733" b="1" dirty="0">
                <a:solidFill>
                  <a:srgbClr val="4C91DE"/>
                </a:solidFill>
                <a:latin typeface="Bangers" pitchFamily="2" charset="77"/>
              </a:rPr>
              <a:t>T</a:t>
            </a:r>
            <a:r>
              <a:rPr lang="en-GB" sz="3733" dirty="0">
                <a:solidFill>
                  <a:srgbClr val="676C6E"/>
                </a:solidFill>
                <a:latin typeface="Bangers" pitchFamily="2" charset="77"/>
              </a:rPr>
              <a:t>ight Coupling</a:t>
            </a:r>
          </a:p>
          <a:p>
            <a:r>
              <a:rPr lang="en-GB" sz="3733" b="1" dirty="0" err="1">
                <a:solidFill>
                  <a:srgbClr val="4C91DE"/>
                </a:solidFill>
                <a:latin typeface="Bangers" pitchFamily="2" charset="77"/>
              </a:rPr>
              <a:t>U</a:t>
            </a:r>
            <a:r>
              <a:rPr lang="en-GB" sz="3733" dirty="0" err="1">
                <a:solidFill>
                  <a:srgbClr val="676C6E"/>
                </a:solidFill>
                <a:latin typeface="Bangers" pitchFamily="2" charset="77"/>
              </a:rPr>
              <a:t>ntestability</a:t>
            </a:r>
            <a:endParaRPr lang="en-GB" sz="3733" dirty="0">
              <a:solidFill>
                <a:srgbClr val="676C6E"/>
              </a:solidFill>
              <a:latin typeface="Bangers" pitchFamily="2" charset="77"/>
            </a:endParaRPr>
          </a:p>
          <a:p>
            <a:r>
              <a:rPr lang="en-GB" sz="3733" b="1" dirty="0">
                <a:solidFill>
                  <a:srgbClr val="4C91DE"/>
                </a:solidFill>
                <a:latin typeface="Bangers" pitchFamily="2" charset="77"/>
              </a:rPr>
              <a:t>P</a:t>
            </a:r>
            <a:r>
              <a:rPr lang="en-GB" sz="3733" dirty="0">
                <a:solidFill>
                  <a:srgbClr val="676C6E"/>
                </a:solidFill>
                <a:latin typeface="Bangers" pitchFamily="2" charset="77"/>
              </a:rPr>
              <a:t>remature Optimization</a:t>
            </a:r>
          </a:p>
          <a:p>
            <a:r>
              <a:rPr lang="en-GB" sz="3733" b="1" dirty="0" err="1">
                <a:solidFill>
                  <a:srgbClr val="4C91DE"/>
                </a:solidFill>
                <a:latin typeface="Bangers" pitchFamily="2" charset="77"/>
              </a:rPr>
              <a:t>I</a:t>
            </a:r>
            <a:r>
              <a:rPr lang="en-GB" sz="3733" dirty="0" err="1">
                <a:solidFill>
                  <a:srgbClr val="676C6E"/>
                </a:solidFill>
                <a:latin typeface="Bangers" pitchFamily="2" charset="77"/>
              </a:rPr>
              <a:t>ndescriptive</a:t>
            </a:r>
            <a:r>
              <a:rPr lang="en-GB" sz="3733" dirty="0">
                <a:solidFill>
                  <a:srgbClr val="676C6E"/>
                </a:solidFill>
                <a:latin typeface="Bangers" pitchFamily="2" charset="77"/>
              </a:rPr>
              <a:t> Naming</a:t>
            </a:r>
          </a:p>
          <a:p>
            <a:r>
              <a:rPr lang="en-GB" sz="3733" b="1" dirty="0">
                <a:solidFill>
                  <a:srgbClr val="4C91DE"/>
                </a:solidFill>
                <a:latin typeface="Bangers" pitchFamily="2" charset="77"/>
              </a:rPr>
              <a:t>D</a:t>
            </a:r>
            <a:r>
              <a:rPr lang="en-GB" sz="3733" dirty="0">
                <a:solidFill>
                  <a:srgbClr val="676C6E"/>
                </a:solidFill>
                <a:latin typeface="Bangers" pitchFamily="2" charset="77"/>
              </a:rPr>
              <a:t>uplication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9184" y="1780051"/>
            <a:ext cx="5834602" cy="2964594"/>
            <a:chOff x="4010609" y="1347033"/>
            <a:chExt cx="4375952" cy="2223445"/>
          </a:xfrm>
        </p:grpSpPr>
        <p:sp>
          <p:nvSpPr>
            <p:cNvPr id="5" name="Rectangle 4"/>
            <p:cNvSpPr/>
            <p:nvPr/>
          </p:nvSpPr>
          <p:spPr>
            <a:xfrm>
              <a:off x="5368667" y="1347033"/>
              <a:ext cx="3017894" cy="222344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3733" b="1" dirty="0">
                  <a:solidFill>
                    <a:srgbClr val="4C91DE"/>
                  </a:solidFill>
                  <a:latin typeface="Bangers" pitchFamily="2" charset="77"/>
                </a:rPr>
                <a:t>S</a:t>
              </a:r>
              <a:r>
                <a:rPr lang="en-GB" sz="3733" dirty="0">
                  <a:solidFill>
                    <a:srgbClr val="676C6E"/>
                  </a:solidFill>
                  <a:latin typeface="Bangers" pitchFamily="2" charset="77"/>
                </a:rPr>
                <a:t>ingle Responsibility</a:t>
              </a:r>
            </a:p>
            <a:p>
              <a:r>
                <a:rPr lang="en-GB" sz="3733" b="1" dirty="0">
                  <a:solidFill>
                    <a:srgbClr val="4C91DE"/>
                  </a:solidFill>
                  <a:latin typeface="Bangers" pitchFamily="2" charset="77"/>
                </a:rPr>
                <a:t>O</a:t>
              </a:r>
              <a:r>
                <a:rPr lang="en-GB" sz="3733" dirty="0">
                  <a:solidFill>
                    <a:srgbClr val="676C6E"/>
                  </a:solidFill>
                  <a:latin typeface="Bangers" pitchFamily="2" charset="77"/>
                </a:rPr>
                <a:t>pen/Closed Principle</a:t>
              </a:r>
            </a:p>
            <a:p>
              <a:r>
                <a:rPr lang="en-GB" sz="3733" b="1" dirty="0" err="1">
                  <a:solidFill>
                    <a:srgbClr val="4C91DE"/>
                  </a:solidFill>
                  <a:latin typeface="Bangers" pitchFamily="2" charset="77"/>
                </a:rPr>
                <a:t>L</a:t>
              </a:r>
              <a:r>
                <a:rPr lang="en-GB" sz="3733" dirty="0" err="1">
                  <a:solidFill>
                    <a:srgbClr val="676C6E"/>
                  </a:solidFill>
                  <a:latin typeface="Bangers" pitchFamily="2" charset="77"/>
                </a:rPr>
                <a:t>iskov</a:t>
              </a:r>
              <a:r>
                <a:rPr lang="en-GB" sz="3733" dirty="0">
                  <a:solidFill>
                    <a:srgbClr val="676C6E"/>
                  </a:solidFill>
                  <a:latin typeface="Bangers" pitchFamily="2" charset="77"/>
                </a:rPr>
                <a:t> Substitution</a:t>
              </a:r>
            </a:p>
            <a:p>
              <a:r>
                <a:rPr lang="en-GB" sz="3733" b="1" dirty="0">
                  <a:solidFill>
                    <a:srgbClr val="4C91DE"/>
                  </a:solidFill>
                  <a:latin typeface="Bangers" pitchFamily="2" charset="77"/>
                </a:rPr>
                <a:t>I</a:t>
              </a:r>
              <a:r>
                <a:rPr lang="en-GB" sz="3733" dirty="0">
                  <a:solidFill>
                    <a:srgbClr val="676C6E"/>
                  </a:solidFill>
                  <a:latin typeface="Bangers" pitchFamily="2" charset="77"/>
                </a:rPr>
                <a:t>nterface Segregation</a:t>
              </a:r>
            </a:p>
            <a:p>
              <a:r>
                <a:rPr lang="en-GB" sz="3733" b="1" dirty="0">
                  <a:solidFill>
                    <a:srgbClr val="4C91DE"/>
                  </a:solidFill>
                  <a:latin typeface="Bangers" pitchFamily="2" charset="77"/>
                </a:rPr>
                <a:t>D</a:t>
              </a:r>
              <a:r>
                <a:rPr lang="en-GB" sz="3733" dirty="0">
                  <a:solidFill>
                    <a:srgbClr val="676C6E"/>
                  </a:solidFill>
                  <a:latin typeface="Bangers" pitchFamily="2" charset="77"/>
                </a:rPr>
                <a:t>ependency Inversion</a:t>
              </a:r>
            </a:p>
          </p:txBody>
        </p:sp>
        <p:sp>
          <p:nvSpPr>
            <p:cNvPr id="2" name="Arrow: Right 1"/>
            <p:cNvSpPr/>
            <p:nvPr/>
          </p:nvSpPr>
          <p:spPr>
            <a:xfrm>
              <a:off x="4010609" y="2218389"/>
              <a:ext cx="1203258" cy="504056"/>
            </a:xfrm>
            <a:prstGeom prst="rightArrow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sz="2400" dirty="0">
                <a:latin typeface="Nunito Sans" panose="00000500000000000000" pitchFamily="2" charset="0"/>
              </a:endParaRPr>
            </a:p>
          </p:txBody>
        </p:sp>
      </p:grpSp>
      <p:sp>
        <p:nvSpPr>
          <p:cNvPr id="7" name="&quot;Not Allowed&quot; Symbol 6"/>
          <p:cNvSpPr/>
          <p:nvPr/>
        </p:nvSpPr>
        <p:spPr>
          <a:xfrm>
            <a:off x="868214" y="1508373"/>
            <a:ext cx="3852005" cy="3801896"/>
          </a:xfrm>
          <a:prstGeom prst="noSmoking">
            <a:avLst>
              <a:gd name="adj" fmla="val 11370"/>
            </a:avLst>
          </a:prstGeom>
          <a:solidFill>
            <a:srgbClr val="4C91D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1783B82-E004-F340-8E3F-77AB0C961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and anti-patterns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38605424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C29ADB-7CFE-491B-963F-040E2AA81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428" y="2917105"/>
            <a:ext cx="10651144" cy="2580919"/>
          </a:xfrm>
          <a:prstGeom prst="rect">
            <a:avLst/>
          </a:prstGeom>
        </p:spPr>
      </p:pic>
      <p:pic>
        <p:nvPicPr>
          <p:cNvPr id="8" name="Picture 2" descr="http://deviq.wpengine.com/wp-content/uploads/2014/11/SingleResponsibility.jpg">
            <a:extLst>
              <a:ext uri="{FF2B5EF4-FFF2-40B4-BE49-F238E27FC236}">
                <a16:creationId xmlns:a16="http://schemas.microsoft.com/office/drawing/2014/main" id="{925FB33C-2A88-4EC9-8F72-3228E813D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09" y="947497"/>
            <a:ext cx="1855304" cy="18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DF0A223-EE45-3243-8FC9-00A48AAD6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SRP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C3CF2-4E43-5247-A794-E9A38AF81FB6}"/>
              </a:ext>
            </a:extLst>
          </p:cNvPr>
          <p:cNvSpPr/>
          <p:nvPr/>
        </p:nvSpPr>
        <p:spPr>
          <a:xfrm>
            <a:off x="3819048" y="1614811"/>
            <a:ext cx="62311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solidFill>
                  <a:srgbClr val="676C6E"/>
                </a:solidFill>
                <a:latin typeface="Bangers" pitchFamily="2" charset="77"/>
              </a:rPr>
              <a:t>A class should have only </a:t>
            </a:r>
            <a:r>
              <a:rPr lang="en-US" sz="3200" dirty="0">
                <a:solidFill>
                  <a:srgbClr val="4C91DE"/>
                </a:solidFill>
                <a:latin typeface="Bangers" pitchFamily="2" charset="77"/>
              </a:rPr>
              <a:t>1 responsibility</a:t>
            </a:r>
            <a:endParaRPr lang="en-FR" sz="3200" dirty="0">
              <a:solidFill>
                <a:srgbClr val="4C91DE"/>
              </a:solidFill>
              <a:latin typeface="Banger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81262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EECE80-CF2E-4200-9B3E-5C8049BB031F}"/>
              </a:ext>
            </a:extLst>
          </p:cNvPr>
          <p:cNvSpPr/>
          <p:nvPr/>
        </p:nvSpPr>
        <p:spPr>
          <a:xfrm>
            <a:off x="3525078" y="1412776"/>
            <a:ext cx="80700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Software </a:t>
            </a:r>
            <a:r>
              <a:rPr lang="fr-FR" sz="3200" dirty="0" err="1">
                <a:solidFill>
                  <a:srgbClr val="676C6E"/>
                </a:solidFill>
                <a:latin typeface="Bangers" pitchFamily="2" charset="77"/>
              </a:rPr>
              <a:t>entities</a:t>
            </a:r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 </a:t>
            </a:r>
            <a:r>
              <a:rPr lang="fr-FR" sz="3200" dirty="0" err="1">
                <a:solidFill>
                  <a:srgbClr val="676C6E"/>
                </a:solidFill>
                <a:latin typeface="Bangers" pitchFamily="2" charset="77"/>
              </a:rPr>
              <a:t>should</a:t>
            </a:r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 </a:t>
            </a:r>
            <a:r>
              <a:rPr lang="fr-FR" sz="3200" dirty="0" err="1">
                <a:solidFill>
                  <a:srgbClr val="676C6E"/>
                </a:solidFill>
                <a:latin typeface="Bangers" pitchFamily="2" charset="77"/>
              </a:rPr>
              <a:t>be</a:t>
            </a:r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 </a:t>
            </a:r>
            <a:r>
              <a:rPr lang="fr-FR" sz="3200" dirty="0">
                <a:solidFill>
                  <a:srgbClr val="4C91DE"/>
                </a:solidFill>
                <a:latin typeface="Bangers" pitchFamily="2" charset="77"/>
              </a:rPr>
              <a:t>open for extension</a:t>
            </a:r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, </a:t>
            </a:r>
          </a:p>
          <a:p>
            <a:pPr algn="ctr"/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but </a:t>
            </a:r>
            <a:r>
              <a:rPr lang="fr-FR" sz="3200" dirty="0" err="1">
                <a:solidFill>
                  <a:srgbClr val="4C91DE"/>
                </a:solidFill>
                <a:latin typeface="Bangers" pitchFamily="2" charset="77"/>
              </a:rPr>
              <a:t>closed</a:t>
            </a:r>
            <a:r>
              <a:rPr lang="fr-FR" sz="3200" dirty="0">
                <a:solidFill>
                  <a:srgbClr val="4C91DE"/>
                </a:solidFill>
                <a:latin typeface="Bangers" pitchFamily="2" charset="77"/>
              </a:rPr>
              <a:t> for modification</a:t>
            </a:r>
            <a:r>
              <a:rPr lang="fr-FR" sz="3200" dirty="0">
                <a:solidFill>
                  <a:srgbClr val="676C6E"/>
                </a:solidFill>
                <a:latin typeface="Bangers" pitchFamily="2" charset="77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4C2805-58F5-4CD8-92DE-C7289E31B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953" y="2902301"/>
            <a:ext cx="10048093" cy="235796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D580B46-DA38-C349-9911-3008E2CD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Open closed</a:t>
            </a:r>
          </a:p>
        </p:txBody>
      </p:sp>
      <p:pic>
        <p:nvPicPr>
          <p:cNvPr id="8" name="Picture 7" descr="http://deviq.wpengine.com/wp-content/uploads/2014/11/OpenClosedPrinciple.jpg">
            <a:extLst>
              <a:ext uri="{FF2B5EF4-FFF2-40B4-BE49-F238E27FC236}">
                <a16:creationId xmlns:a16="http://schemas.microsoft.com/office/drawing/2014/main" id="{4DCCEC9F-1256-9140-A6EA-3C7C99E1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0" y="947498"/>
            <a:ext cx="1855304" cy="18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45380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33C4E0-15C2-4536-806D-7E85C86E7082}"/>
              </a:ext>
            </a:extLst>
          </p:cNvPr>
          <p:cNvSpPr/>
          <p:nvPr/>
        </p:nvSpPr>
        <p:spPr>
          <a:xfrm>
            <a:off x="3329504" y="1545892"/>
            <a:ext cx="81192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676C6E"/>
                </a:solidFill>
                <a:latin typeface="Bangers" pitchFamily="2" charset="77"/>
              </a:rPr>
              <a:t>Should be able to replace an object </a:t>
            </a:r>
            <a:r>
              <a:rPr lang="en-US" sz="3200" dirty="0">
                <a:solidFill>
                  <a:srgbClr val="4C91DE"/>
                </a:solidFill>
                <a:latin typeface="Bangers" pitchFamily="2" charset="77"/>
              </a:rPr>
              <a:t>with any of its derived class</a:t>
            </a:r>
            <a:endParaRPr lang="fr-FR" sz="3200" dirty="0">
              <a:solidFill>
                <a:srgbClr val="4C91DE"/>
              </a:solidFill>
              <a:latin typeface="Bangers" pitchFamily="2" charset="77"/>
            </a:endParaRPr>
          </a:p>
        </p:txBody>
      </p:sp>
      <p:pic>
        <p:nvPicPr>
          <p:cNvPr id="5" name="Picture 2" descr="LiskovSubstitution">
            <a:extLst>
              <a:ext uri="{FF2B5EF4-FFF2-40B4-BE49-F238E27FC236}">
                <a16:creationId xmlns:a16="http://schemas.microsoft.com/office/drawing/2014/main" id="{CCC87CB2-B275-4F91-A624-66A03318A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1" y="947499"/>
            <a:ext cx="1855304" cy="18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7DA52D-7845-4C1C-A521-C70372066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89" y="3063824"/>
            <a:ext cx="9382222" cy="22728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34BA23-0221-1241-AEF0-FD1A58AF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</a:t>
            </a:r>
            <a:r>
              <a:rPr lang="en-FR" dirty="0"/>
              <a:t>iskov substitution</a:t>
            </a:r>
          </a:p>
        </p:txBody>
      </p:sp>
    </p:spTree>
    <p:extLst>
      <p:ext uri="{BB962C8B-B14F-4D97-AF65-F5344CB8AC3E}">
        <p14:creationId xmlns:p14="http://schemas.microsoft.com/office/powerpoint/2010/main" val="128579423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33C4E0-15C2-4536-806D-7E85C86E7082}"/>
              </a:ext>
            </a:extLst>
          </p:cNvPr>
          <p:cNvSpPr/>
          <p:nvPr/>
        </p:nvSpPr>
        <p:spPr>
          <a:xfrm>
            <a:off x="3339548" y="1368591"/>
            <a:ext cx="797475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676C6E"/>
                </a:solidFill>
                <a:latin typeface="Bangers" pitchFamily="2" charset="77"/>
              </a:rPr>
              <a:t>Clients should </a:t>
            </a:r>
            <a:r>
              <a:rPr lang="en-US" sz="3200" dirty="0">
                <a:solidFill>
                  <a:srgbClr val="4C91DE"/>
                </a:solidFill>
                <a:latin typeface="Bangers" pitchFamily="2" charset="77"/>
              </a:rPr>
              <a:t>not be forced to depend on methods that they do not use</a:t>
            </a:r>
            <a:r>
              <a:rPr lang="en-US" sz="3200" dirty="0">
                <a:solidFill>
                  <a:srgbClr val="676C6E"/>
                </a:solidFill>
                <a:latin typeface="Bangers" pitchFamily="2" charset="77"/>
              </a:rPr>
              <a:t>.</a:t>
            </a:r>
            <a:endParaRPr lang="fr-FR" sz="3200" dirty="0">
              <a:solidFill>
                <a:srgbClr val="676C6E"/>
              </a:solidFill>
              <a:latin typeface="Bangers" pitchFamily="2" charset="77"/>
            </a:endParaRPr>
          </a:p>
        </p:txBody>
      </p:sp>
      <p:pic>
        <p:nvPicPr>
          <p:cNvPr id="5" name="Picture 2" descr="InterfaceSegregation">
            <a:extLst>
              <a:ext uri="{FF2B5EF4-FFF2-40B4-BE49-F238E27FC236}">
                <a16:creationId xmlns:a16="http://schemas.microsoft.com/office/drawing/2014/main" id="{D8E5EAFB-1F0C-4923-B24F-7944C14FC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1" y="947499"/>
            <a:ext cx="1855304" cy="18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4D2BC9-C7AD-4A88-843C-C67E5E68CE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49" y="3038655"/>
            <a:ext cx="9780102" cy="20330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42453C-F506-4149-ABEF-0CF87FA9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FR" dirty="0"/>
              <a:t>nterface segregation</a:t>
            </a:r>
          </a:p>
        </p:txBody>
      </p:sp>
    </p:spTree>
    <p:extLst>
      <p:ext uri="{BB962C8B-B14F-4D97-AF65-F5344CB8AC3E}">
        <p14:creationId xmlns:p14="http://schemas.microsoft.com/office/powerpoint/2010/main" val="2832536161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933C4E0-15C2-4536-806D-7E85C86E7082}"/>
              </a:ext>
            </a:extLst>
          </p:cNvPr>
          <p:cNvSpPr/>
          <p:nvPr/>
        </p:nvSpPr>
        <p:spPr>
          <a:xfrm>
            <a:off x="3455647" y="1390017"/>
            <a:ext cx="79677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676C6E"/>
                </a:solidFill>
                <a:latin typeface="Bangers" pitchFamily="2" charset="77"/>
              </a:rPr>
              <a:t>High level modules should not depend on low level modules : both </a:t>
            </a:r>
            <a:r>
              <a:rPr lang="en-US" sz="2800" dirty="0">
                <a:solidFill>
                  <a:srgbClr val="4C91DE"/>
                </a:solidFill>
                <a:latin typeface="Bangers" pitchFamily="2" charset="77"/>
              </a:rPr>
              <a:t>should depend on abstractions</a:t>
            </a:r>
            <a:r>
              <a:rPr lang="en-US" sz="2800" dirty="0">
                <a:solidFill>
                  <a:srgbClr val="676C6E"/>
                </a:solidFill>
                <a:latin typeface="Bangers" pitchFamily="2" charset="77"/>
              </a:rPr>
              <a:t>.</a:t>
            </a:r>
            <a:endParaRPr lang="fr-FR" sz="2800" dirty="0">
              <a:solidFill>
                <a:srgbClr val="676C6E"/>
              </a:solidFill>
              <a:latin typeface="Bangers" pitchFamily="2" charset="77"/>
            </a:endParaRPr>
          </a:p>
        </p:txBody>
      </p:sp>
      <p:pic>
        <p:nvPicPr>
          <p:cNvPr id="5" name="Picture 4" descr="DependencyInversion">
            <a:extLst>
              <a:ext uri="{FF2B5EF4-FFF2-40B4-BE49-F238E27FC236}">
                <a16:creationId xmlns:a16="http://schemas.microsoft.com/office/drawing/2014/main" id="{A1574EF4-4C2D-404E-9B3B-97D7263EC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211" y="947499"/>
            <a:ext cx="1855304" cy="1855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A23260-21AD-4DA8-B481-91A7A6780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043" y="3035449"/>
            <a:ext cx="8973913" cy="25477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49F3E9-A59B-4D4F-8B7E-C74B4262E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FR" dirty="0"/>
              <a:t>DI</a:t>
            </a:r>
          </a:p>
        </p:txBody>
      </p:sp>
    </p:spTree>
    <p:extLst>
      <p:ext uri="{BB962C8B-B14F-4D97-AF65-F5344CB8AC3E}">
        <p14:creationId xmlns:p14="http://schemas.microsoft.com/office/powerpoint/2010/main" val="22345747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6D4BD3-8C2A-E548-9587-1442DA3C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00" y="183568"/>
            <a:ext cx="8302800" cy="828029"/>
          </a:xfrm>
        </p:spPr>
        <p:txBody>
          <a:bodyPr/>
          <a:lstStyle/>
          <a:p>
            <a:r>
              <a:rPr lang="fr-FR" dirty="0"/>
              <a:t>Good code / </a:t>
            </a:r>
            <a:r>
              <a:rPr lang="fr-FR" dirty="0" err="1"/>
              <a:t>bad</a:t>
            </a:r>
            <a:r>
              <a:rPr lang="fr-FR" dirty="0"/>
              <a:t> code</a:t>
            </a:r>
            <a:endParaRPr lang="en-F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D9342B-2B91-204A-A79B-1FAA1B5BDF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Align each piece of code </a:t>
            </a:r>
            <a:r>
              <a:rPr lang="en-US" sz="3200" dirty="0">
                <a:solidFill>
                  <a:srgbClr val="4C91DE"/>
                </a:solidFill>
              </a:rPr>
              <a:t>with a S.O.L.I.D principle</a:t>
            </a:r>
          </a:p>
        </p:txBody>
      </p:sp>
      <p:pic>
        <p:nvPicPr>
          <p:cNvPr id="7" name="Picture 2" descr="http://deviq.wpengine.com/wp-content/uploads/2014/11/SingleResponsibility.jpg">
            <a:extLst>
              <a:ext uri="{FF2B5EF4-FFF2-40B4-BE49-F238E27FC236}">
                <a16:creationId xmlns:a16="http://schemas.microsoft.com/office/drawing/2014/main" id="{9CB3711D-84F4-C341-91A1-3F37A82D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07" y="2331335"/>
            <a:ext cx="685539" cy="68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deviq.wpengine.com/wp-content/uploads/2014/11/OpenClosedPrinciple.jpg">
            <a:extLst>
              <a:ext uri="{FF2B5EF4-FFF2-40B4-BE49-F238E27FC236}">
                <a16:creationId xmlns:a16="http://schemas.microsoft.com/office/drawing/2014/main" id="{68B12562-EB54-D24D-AC96-F2847B1BB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006" y="3110810"/>
            <a:ext cx="685539" cy="685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LiskovSubstitution">
            <a:extLst>
              <a:ext uri="{FF2B5EF4-FFF2-40B4-BE49-F238E27FC236}">
                <a16:creationId xmlns:a16="http://schemas.microsoft.com/office/drawing/2014/main" id="{CF563A78-2B8F-1849-BC13-CF9A1E0F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07" y="3861424"/>
            <a:ext cx="686382" cy="68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nterfaceSegregation">
            <a:extLst>
              <a:ext uri="{FF2B5EF4-FFF2-40B4-BE49-F238E27FC236}">
                <a16:creationId xmlns:a16="http://schemas.microsoft.com/office/drawing/2014/main" id="{69F43DAD-8924-034D-B617-B6B61ED97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07" y="4640899"/>
            <a:ext cx="686382" cy="68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DependencyInversion">
            <a:extLst>
              <a:ext uri="{FF2B5EF4-FFF2-40B4-BE49-F238E27FC236}">
                <a16:creationId xmlns:a16="http://schemas.microsoft.com/office/drawing/2014/main" id="{86DA503D-2541-ED4A-80BA-B8A806813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707" y="5392356"/>
            <a:ext cx="686382" cy="68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 feel nothing">
            <a:extLst>
              <a:ext uri="{FF2B5EF4-FFF2-40B4-BE49-F238E27FC236}">
                <a16:creationId xmlns:a16="http://schemas.microsoft.com/office/drawing/2014/main" id="{0C1CE85B-8466-D34E-8B92-69D4671EDD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15"/>
          <a:stretch/>
        </p:blipFill>
        <p:spPr bwMode="auto">
          <a:xfrm>
            <a:off x="8226513" y="2327061"/>
            <a:ext cx="3792141" cy="309004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Bitmoji Image">
            <a:extLst>
              <a:ext uri="{FF2B5EF4-FFF2-40B4-BE49-F238E27FC236}">
                <a16:creationId xmlns:a16="http://schemas.microsoft.com/office/drawing/2014/main" id="{7E372C3E-F088-FB4F-8CAE-2DF3F9ABF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616" y="1964351"/>
            <a:ext cx="725419" cy="7254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Bitmoji Image">
            <a:extLst>
              <a:ext uri="{FF2B5EF4-FFF2-40B4-BE49-F238E27FC236}">
                <a16:creationId xmlns:a16="http://schemas.microsoft.com/office/drawing/2014/main" id="{6D06F899-C6D1-7341-AC54-DF25F7EFB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64351"/>
            <a:ext cx="725419" cy="7254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81615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0CB10B2-B014-044C-A59C-B7A11069097B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97301" y="236948"/>
            <a:chExt cx="4407221" cy="633109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C81492-1F2D-6942-A895-C0A93701D9B5}"/>
                </a:ext>
              </a:extLst>
            </p:cNvPr>
            <p:cNvGrpSpPr/>
            <p:nvPr/>
          </p:nvGrpSpPr>
          <p:grpSpPr>
            <a:xfrm>
              <a:off x="297301" y="236948"/>
              <a:ext cx="4407221" cy="6331095"/>
              <a:chOff x="251520" y="275908"/>
              <a:chExt cx="2664296" cy="3816424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FA793D5-D7A0-7240-A99E-9D6F1B25E877}"/>
                  </a:ext>
                </a:extLst>
              </p:cNvPr>
              <p:cNvSpPr/>
              <p:nvPr/>
            </p:nvSpPr>
            <p:spPr>
              <a:xfrm>
                <a:off x="251520" y="275908"/>
                <a:ext cx="2664296" cy="3816424"/>
              </a:xfrm>
              <a:prstGeom prst="rect">
                <a:avLst/>
              </a:prstGeom>
              <a:solidFill>
                <a:srgbClr val="4C91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/>
              </a:p>
            </p:txBody>
          </p:sp>
          <p:sp>
            <p:nvSpPr>
              <p:cNvPr id="23" name="Rectangle: Rounded Corners 27">
                <a:extLst>
                  <a:ext uri="{FF2B5EF4-FFF2-40B4-BE49-F238E27FC236}">
                    <a16:creationId xmlns:a16="http://schemas.microsoft.com/office/drawing/2014/main" id="{DB58B0AB-3A84-894A-9C75-D705924599C3}"/>
                  </a:ext>
                </a:extLst>
              </p:cNvPr>
              <p:cNvSpPr/>
              <p:nvPr/>
            </p:nvSpPr>
            <p:spPr>
              <a:xfrm>
                <a:off x="323432" y="363607"/>
                <a:ext cx="2520472" cy="3657107"/>
              </a:xfrm>
              <a:prstGeom prst="roundRect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dirty="0"/>
              </a:p>
            </p:txBody>
          </p: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506293-D654-4E36-9967-7540F2D24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530" y="702495"/>
              <a:ext cx="3320761" cy="5400000"/>
            </a:xfrm>
            <a:prstGeom prst="rect">
              <a:avLst/>
            </a:prstGeom>
            <a:ln w="127000">
              <a:noFill/>
            </a:ln>
          </p:spPr>
        </p:pic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1D9FDDA-A705-8447-AB19-779F06F0651F}"/>
                </a:ext>
              </a:extLst>
            </p:cNvPr>
            <p:cNvSpPr/>
            <p:nvPr/>
          </p:nvSpPr>
          <p:spPr>
            <a:xfrm>
              <a:off x="4090632" y="5846893"/>
              <a:ext cx="569843" cy="596347"/>
            </a:xfrm>
            <a:prstGeom prst="ellipse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2000" dirty="0">
                  <a:latin typeface="Bangers" pitchFamily="2" charset="77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3A97BB1-A286-8045-9495-CA2AE192E03B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4823477" y="236948"/>
            <a:chExt cx="4407221" cy="633109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D531E99-C8F7-6046-B2A3-7082ACFB7420}"/>
                </a:ext>
              </a:extLst>
            </p:cNvPr>
            <p:cNvSpPr/>
            <p:nvPr/>
          </p:nvSpPr>
          <p:spPr>
            <a:xfrm>
              <a:off x="8396776" y="5738192"/>
              <a:ext cx="569843" cy="596347"/>
            </a:xfrm>
            <a:prstGeom prst="ellipse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2800" dirty="0">
                  <a:latin typeface="Bangers" pitchFamily="2" charset="77"/>
                </a:rPr>
                <a:t>3</a:t>
              </a: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3F08F54-4FAD-2E48-9DBA-31E719F30C80}"/>
                </a:ext>
              </a:extLst>
            </p:cNvPr>
            <p:cNvGrpSpPr/>
            <p:nvPr/>
          </p:nvGrpSpPr>
          <p:grpSpPr>
            <a:xfrm>
              <a:off x="4823477" y="236948"/>
              <a:ext cx="4407221" cy="6331095"/>
              <a:chOff x="251520" y="275908"/>
              <a:chExt cx="2664296" cy="381642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0DE4C28-7376-F444-AD6A-71A227E157F4}"/>
                  </a:ext>
                </a:extLst>
              </p:cNvPr>
              <p:cNvSpPr/>
              <p:nvPr/>
            </p:nvSpPr>
            <p:spPr>
              <a:xfrm>
                <a:off x="251520" y="275908"/>
                <a:ext cx="2664296" cy="3816424"/>
              </a:xfrm>
              <a:prstGeom prst="rect">
                <a:avLst/>
              </a:prstGeom>
              <a:solidFill>
                <a:srgbClr val="4C91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/>
              </a:p>
            </p:txBody>
          </p:sp>
          <p:sp>
            <p:nvSpPr>
              <p:cNvPr id="30" name="Rectangle: Rounded Corners 27">
                <a:extLst>
                  <a:ext uri="{FF2B5EF4-FFF2-40B4-BE49-F238E27FC236}">
                    <a16:creationId xmlns:a16="http://schemas.microsoft.com/office/drawing/2014/main" id="{6B47D219-5180-2444-BAB6-A7F4312D8F5C}"/>
                  </a:ext>
                </a:extLst>
              </p:cNvPr>
              <p:cNvSpPr/>
              <p:nvPr/>
            </p:nvSpPr>
            <p:spPr>
              <a:xfrm>
                <a:off x="323432" y="363607"/>
                <a:ext cx="2520472" cy="3657107"/>
              </a:xfrm>
              <a:prstGeom prst="roundRect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2400" dirty="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2244052-113F-4D64-A2A1-4F9E742C8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1219" y="715834"/>
              <a:ext cx="3571736" cy="5400000"/>
            </a:xfrm>
            <a:prstGeom prst="rect">
              <a:avLst/>
            </a:prstGeom>
            <a:ln w="127000">
              <a:noFill/>
            </a:ln>
          </p:spPr>
        </p:pic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E3D51F6-9540-F445-B081-F84D310A4C7B}"/>
                </a:ext>
              </a:extLst>
            </p:cNvPr>
            <p:cNvSpPr/>
            <p:nvPr/>
          </p:nvSpPr>
          <p:spPr>
            <a:xfrm>
              <a:off x="8646988" y="5843992"/>
              <a:ext cx="569843" cy="596347"/>
            </a:xfrm>
            <a:prstGeom prst="ellipse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FR" sz="2000" dirty="0">
                  <a:latin typeface="Bangers" pitchFamily="2" charset="77"/>
                </a:rPr>
                <a:t>3</a:t>
              </a:r>
            </a:p>
          </p:txBody>
        </p:sp>
      </p:grpSp>
      <p:pic>
        <p:nvPicPr>
          <p:cNvPr id="19" name="Picture 18">
            <a:hlinkClick r:id="rId5" action="ppaction://hlinksldjump"/>
            <a:extLst>
              <a:ext uri="{FF2B5EF4-FFF2-40B4-BE49-F238E27FC236}">
                <a16:creationId xmlns:a16="http://schemas.microsoft.com/office/drawing/2014/main" id="{CD4C3216-0AF3-6B40-B34D-8FB71DF51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1700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13</a:t>
            </a:r>
          </a:p>
        </p:txBody>
      </p:sp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9C9E1562-18C0-A845-B31B-E611529F8A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83" y="1612667"/>
            <a:ext cx="3591702" cy="2981486"/>
          </a:xfrm>
          <a:prstGeom prst="rect">
            <a:avLst/>
          </a:prstGeom>
        </p:spPr>
      </p:pic>
      <p:pic>
        <p:nvPicPr>
          <p:cNvPr id="18" name="Picture 17" descr="Screen Clipping">
            <a:extLst>
              <a:ext uri="{FF2B5EF4-FFF2-40B4-BE49-F238E27FC236}">
                <a16:creationId xmlns:a16="http://schemas.microsoft.com/office/drawing/2014/main" id="{DA58F669-E526-3B40-A34E-0F100C92AE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937" y="1977505"/>
            <a:ext cx="3476299" cy="1914331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16</a:t>
            </a:r>
          </a:p>
        </p:txBody>
      </p:sp>
      <p:pic>
        <p:nvPicPr>
          <p:cNvPr id="16" name="Picture 15">
            <a:hlinkClick r:id="rId5" action="ppaction://hlinksldjump"/>
            <a:extLst>
              <a:ext uri="{FF2B5EF4-FFF2-40B4-BE49-F238E27FC236}">
                <a16:creationId xmlns:a16="http://schemas.microsoft.com/office/drawing/2014/main" id="{97A7ECB6-B947-7145-A46D-05073D994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4472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4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2</a:t>
            </a:r>
          </a:p>
        </p:txBody>
      </p:sp>
      <p:pic>
        <p:nvPicPr>
          <p:cNvPr id="14" name="Picture 13" descr="Screen Clipping">
            <a:extLst>
              <a:ext uri="{FF2B5EF4-FFF2-40B4-BE49-F238E27FC236}">
                <a16:creationId xmlns:a16="http://schemas.microsoft.com/office/drawing/2014/main" id="{E37E0B13-7AC8-6F4B-9BB8-2EC295CDAA8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9"/>
          <a:stretch/>
        </p:blipFill>
        <p:spPr>
          <a:xfrm>
            <a:off x="545514" y="2634674"/>
            <a:ext cx="3883047" cy="13441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7B24B7-0132-D54A-8C7C-60E2E5E37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525" y="1105273"/>
            <a:ext cx="3906347" cy="4402949"/>
          </a:xfrm>
          <a:prstGeom prst="rect">
            <a:avLst/>
          </a:prstGeom>
        </p:spPr>
      </p:pic>
      <p:pic>
        <p:nvPicPr>
          <p:cNvPr id="17" name="Picture 16">
            <a:hlinkClick r:id="rId5" action="ppaction://hlinksldjump"/>
            <a:extLst>
              <a:ext uri="{FF2B5EF4-FFF2-40B4-BE49-F238E27FC236}">
                <a16:creationId xmlns:a16="http://schemas.microsoft.com/office/drawing/2014/main" id="{5BBFC50C-69D3-734C-82F3-D09791C77A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58797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15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692C913-4552-544D-B5EE-666761EB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71" y="1968072"/>
            <a:ext cx="3158177" cy="25793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B94F7E-8541-A04D-91E4-CD6EFFB93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132" y="1057561"/>
            <a:ext cx="3565813" cy="4742877"/>
          </a:xfrm>
          <a:prstGeom prst="rect">
            <a:avLst/>
          </a:prstGeom>
        </p:spPr>
      </p:pic>
      <p:pic>
        <p:nvPicPr>
          <p:cNvPr id="16" name="Picture 15">
            <a:hlinkClick r:id="rId5" action="ppaction://hlinksldjump"/>
            <a:extLst>
              <a:ext uri="{FF2B5EF4-FFF2-40B4-BE49-F238E27FC236}">
                <a16:creationId xmlns:a16="http://schemas.microsoft.com/office/drawing/2014/main" id="{C589BDAF-D4CB-3B40-A579-FF5F3A4D1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07389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8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D5BDA-8BF2-6944-A1B9-6AE1FDC8F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167" y="1164453"/>
            <a:ext cx="3719742" cy="4284591"/>
          </a:xfrm>
          <a:prstGeom prst="rect">
            <a:avLst/>
          </a:prstGeom>
        </p:spPr>
      </p:pic>
      <p:pic>
        <p:nvPicPr>
          <p:cNvPr id="16" name="Picture 15" descr="Screen Clipping">
            <a:extLst>
              <a:ext uri="{FF2B5EF4-FFF2-40B4-BE49-F238E27FC236}">
                <a16:creationId xmlns:a16="http://schemas.microsoft.com/office/drawing/2014/main" id="{B78B28FF-B2C7-6048-BEBA-319F8D226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91" y="1440171"/>
            <a:ext cx="3567239" cy="3733156"/>
          </a:xfrm>
          <a:prstGeom prst="rect">
            <a:avLst/>
          </a:prstGeom>
        </p:spPr>
      </p:pic>
      <p:pic>
        <p:nvPicPr>
          <p:cNvPr id="17" name="Picture 16">
            <a:hlinkClick r:id="rId5" action="ppaction://hlinksldjump"/>
            <a:extLst>
              <a:ext uri="{FF2B5EF4-FFF2-40B4-BE49-F238E27FC236}">
                <a16:creationId xmlns:a16="http://schemas.microsoft.com/office/drawing/2014/main" id="{638F36A2-9197-2947-BE1B-D94216019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90187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11</a:t>
            </a:r>
          </a:p>
        </p:txBody>
      </p:sp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BA1CAB95-127D-5B40-8532-7CF4B4464C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99" y="571048"/>
            <a:ext cx="3323688" cy="5579848"/>
          </a:xfrm>
          <a:prstGeom prst="rect">
            <a:avLst/>
          </a:prstGeom>
        </p:spPr>
      </p:pic>
      <p:pic>
        <p:nvPicPr>
          <p:cNvPr id="18" name="Picture 17" descr="Screen Clipping">
            <a:extLst>
              <a:ext uri="{FF2B5EF4-FFF2-40B4-BE49-F238E27FC236}">
                <a16:creationId xmlns:a16="http://schemas.microsoft.com/office/drawing/2014/main" id="{62BEB184-74C2-FA42-815A-BB4643112B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086" y="1700808"/>
            <a:ext cx="3318129" cy="3456384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9</a:t>
            </a:r>
          </a:p>
        </p:txBody>
      </p:sp>
      <p:pic>
        <p:nvPicPr>
          <p:cNvPr id="16" name="Picture 15">
            <a:hlinkClick r:id="rId5" action="ppaction://hlinksldjump"/>
            <a:extLst>
              <a:ext uri="{FF2B5EF4-FFF2-40B4-BE49-F238E27FC236}">
                <a16:creationId xmlns:a16="http://schemas.microsoft.com/office/drawing/2014/main" id="{301ADCDF-81BA-1C4E-9E69-CA76F87822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34540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7D531E99-C8F7-6046-B2A3-7082ACFB7420}"/>
              </a:ext>
            </a:extLst>
          </p:cNvPr>
          <p:cNvSpPr/>
          <p:nvPr/>
        </p:nvSpPr>
        <p:spPr>
          <a:xfrm>
            <a:off x="8396776" y="57381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F08F54-4FAD-2E48-9DBA-31E719F30C80}"/>
              </a:ext>
            </a:extLst>
          </p:cNvPr>
          <p:cNvGrpSpPr/>
          <p:nvPr/>
        </p:nvGrpSpPr>
        <p:grpSpPr>
          <a:xfrm>
            <a:off x="4823477" y="236948"/>
            <a:ext cx="4407221" cy="6331095"/>
            <a:chOff x="251520" y="275908"/>
            <a:chExt cx="2664296" cy="381642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0DE4C28-7376-F444-AD6A-71A227E157F4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30" name="Rectangle: Rounded Corners 27">
              <a:extLst>
                <a:ext uri="{FF2B5EF4-FFF2-40B4-BE49-F238E27FC236}">
                  <a16:creationId xmlns:a16="http://schemas.microsoft.com/office/drawing/2014/main" id="{6B47D219-5180-2444-BAB6-A7F4312D8F5C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E3D51F6-9540-F445-B081-F84D310A4C7B}"/>
              </a:ext>
            </a:extLst>
          </p:cNvPr>
          <p:cNvSpPr/>
          <p:nvPr/>
        </p:nvSpPr>
        <p:spPr>
          <a:xfrm>
            <a:off x="8646988" y="5843992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5</a:t>
            </a:r>
          </a:p>
        </p:txBody>
      </p:sp>
      <p:pic>
        <p:nvPicPr>
          <p:cNvPr id="14" name="Picture 13" descr="Screen Clipping">
            <a:extLst>
              <a:ext uri="{FF2B5EF4-FFF2-40B4-BE49-F238E27FC236}">
                <a16:creationId xmlns:a16="http://schemas.microsoft.com/office/drawing/2014/main" id="{9E9E2182-6335-F348-B467-91EF535CF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324" y="567505"/>
            <a:ext cx="2678290" cy="5574660"/>
          </a:xfrm>
          <a:prstGeom prst="rect">
            <a:avLst/>
          </a:prstGeom>
        </p:spPr>
      </p:pic>
      <p:pic>
        <p:nvPicPr>
          <p:cNvPr id="16" name="Picture 15" descr="Screen Clipping">
            <a:extLst>
              <a:ext uri="{FF2B5EF4-FFF2-40B4-BE49-F238E27FC236}">
                <a16:creationId xmlns:a16="http://schemas.microsoft.com/office/drawing/2014/main" id="{445EAA88-3372-FD46-9E47-4183B02B65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540" y="2441138"/>
            <a:ext cx="3721093" cy="1344149"/>
          </a:xfrm>
          <a:prstGeom prst="rect">
            <a:avLst/>
          </a:prstGeom>
        </p:spPr>
      </p:pic>
      <p:pic>
        <p:nvPicPr>
          <p:cNvPr id="18" name="Picture 17">
            <a:hlinkClick r:id="rId5" action="ppaction://hlinksldjump"/>
            <a:extLst>
              <a:ext uri="{FF2B5EF4-FFF2-40B4-BE49-F238E27FC236}">
                <a16:creationId xmlns:a16="http://schemas.microsoft.com/office/drawing/2014/main" id="{CA025CBE-D942-2D49-B45D-5D4077E880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4588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9C81492-1F2D-6942-A895-C0A93701D9B5}"/>
              </a:ext>
            </a:extLst>
          </p:cNvPr>
          <p:cNvGrpSpPr/>
          <p:nvPr/>
        </p:nvGrpSpPr>
        <p:grpSpPr>
          <a:xfrm>
            <a:off x="297301" y="236948"/>
            <a:ext cx="4407221" cy="6331095"/>
            <a:chOff x="251520" y="275908"/>
            <a:chExt cx="2664296" cy="38164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FA793D5-D7A0-7240-A99E-9D6F1B25E877}"/>
                </a:ext>
              </a:extLst>
            </p:cNvPr>
            <p:cNvSpPr/>
            <p:nvPr/>
          </p:nvSpPr>
          <p:spPr>
            <a:xfrm>
              <a:off x="251520" y="275908"/>
              <a:ext cx="2664296" cy="3816424"/>
            </a:xfrm>
            <a:prstGeom prst="rect">
              <a:avLst/>
            </a:prstGeom>
            <a:solidFill>
              <a:srgbClr val="4C91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sp>
          <p:nvSpPr>
            <p:cNvPr id="23" name="Rectangle: Rounded Corners 27">
              <a:extLst>
                <a:ext uri="{FF2B5EF4-FFF2-40B4-BE49-F238E27FC236}">
                  <a16:creationId xmlns:a16="http://schemas.microsoft.com/office/drawing/2014/main" id="{DB58B0AB-3A84-894A-9C75-D705924599C3}"/>
                </a:ext>
              </a:extLst>
            </p:cNvPr>
            <p:cNvSpPr/>
            <p:nvPr/>
          </p:nvSpPr>
          <p:spPr>
            <a:xfrm>
              <a:off x="323432" y="363607"/>
              <a:ext cx="2520472" cy="3657107"/>
            </a:xfrm>
            <a:prstGeom prst="roundRect">
              <a:avLst/>
            </a:prstGeom>
            <a:solidFill>
              <a:schemeClr val="bg1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 dirty="0"/>
            </a:p>
          </p:txBody>
        </p: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16235DA9-BF70-D148-B4DB-D0FAEDA1FD10}"/>
              </a:ext>
            </a:extLst>
          </p:cNvPr>
          <p:cNvSpPr/>
          <p:nvPr/>
        </p:nvSpPr>
        <p:spPr>
          <a:xfrm>
            <a:off x="4090632" y="5846893"/>
            <a:ext cx="569843" cy="596347"/>
          </a:xfrm>
          <a:prstGeom prst="ellipse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000" dirty="0">
                <a:latin typeface="Bangers" pitchFamily="2" charset="77"/>
              </a:rPr>
              <a:t>12</a:t>
            </a:r>
          </a:p>
        </p:txBody>
      </p:sp>
      <p:pic>
        <p:nvPicPr>
          <p:cNvPr id="17" name="Picture 16" descr="Screen Clipping">
            <a:extLst>
              <a:ext uri="{FF2B5EF4-FFF2-40B4-BE49-F238E27FC236}">
                <a16:creationId xmlns:a16="http://schemas.microsoft.com/office/drawing/2014/main" id="{C85442CF-3A80-C140-8AD9-6CB13AD2A6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68" y="2237291"/>
            <a:ext cx="3935485" cy="2138916"/>
          </a:xfrm>
          <a:prstGeom prst="rect">
            <a:avLst/>
          </a:prstGeom>
        </p:spPr>
      </p:pic>
      <p:pic>
        <p:nvPicPr>
          <p:cNvPr id="4" name="Picture 3">
            <a:hlinkClick r:id="rId4" action="ppaction://hlinksldjump"/>
            <a:extLst>
              <a:ext uri="{FF2B5EF4-FFF2-40B4-BE49-F238E27FC236}">
                <a16:creationId xmlns:a16="http://schemas.microsoft.com/office/drawing/2014/main" id="{0465D1C8-1C66-3842-B2BB-D79482335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1011" y="2631166"/>
            <a:ext cx="1901370" cy="135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23347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2" descr="http://deviq.wpengine.com/wp-content/uploads/2014/11/SingleResponsibility.jpg">
            <a:extLst>
              <a:ext uri="{FF2B5EF4-FFF2-40B4-BE49-F238E27FC236}">
                <a16:creationId xmlns:a16="http://schemas.microsoft.com/office/drawing/2014/main" id="{07DD6D3C-C729-4A17-AF16-C7978DB2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92" y="991668"/>
            <a:ext cx="1056117" cy="105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http://deviq.wpengine.com/wp-content/uploads/2014/11/OpenClosedPrinciple.jpg">
            <a:extLst>
              <a:ext uri="{FF2B5EF4-FFF2-40B4-BE49-F238E27FC236}">
                <a16:creationId xmlns:a16="http://schemas.microsoft.com/office/drawing/2014/main" id="{E737885C-8DC7-4841-BE1E-BF6431B90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92" y="2153282"/>
            <a:ext cx="1056117" cy="105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 descr="LiskovSubstitution">
            <a:extLst>
              <a:ext uri="{FF2B5EF4-FFF2-40B4-BE49-F238E27FC236}">
                <a16:creationId xmlns:a16="http://schemas.microsoft.com/office/drawing/2014/main" id="{C70AA9F9-DF99-4D8C-B32D-DA8050975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93" y="3314896"/>
            <a:ext cx="1057416" cy="10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2" descr="InterfaceSegregation">
            <a:extLst>
              <a:ext uri="{FF2B5EF4-FFF2-40B4-BE49-F238E27FC236}">
                <a16:creationId xmlns:a16="http://schemas.microsoft.com/office/drawing/2014/main" id="{433D4328-CB81-454B-80CD-B33257D2F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93" y="4476509"/>
            <a:ext cx="1057416" cy="10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4" descr="DependencyInversion">
            <a:extLst>
              <a:ext uri="{FF2B5EF4-FFF2-40B4-BE49-F238E27FC236}">
                <a16:creationId xmlns:a16="http://schemas.microsoft.com/office/drawing/2014/main" id="{97B95908-AF25-4A1D-A2E3-8D82A1D92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93" y="5638123"/>
            <a:ext cx="1057416" cy="1057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hlinkClick r:id="rId8" action="ppaction://hlinksldjump"/>
            <a:extLst>
              <a:ext uri="{FF2B5EF4-FFF2-40B4-BE49-F238E27FC236}">
                <a16:creationId xmlns:a16="http://schemas.microsoft.com/office/drawing/2014/main" id="{318769DC-50F8-3447-A1F4-F2480BE31C97}"/>
              </a:ext>
            </a:extLst>
          </p:cNvPr>
          <p:cNvSpPr/>
          <p:nvPr/>
        </p:nvSpPr>
        <p:spPr>
          <a:xfrm>
            <a:off x="1550463" y="2155421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</a:t>
            </a:r>
          </a:p>
        </p:txBody>
      </p:sp>
      <p:sp>
        <p:nvSpPr>
          <p:cNvPr id="145" name="Rounded Rectangle 144">
            <a:hlinkClick r:id="rId8" action="ppaction://hlinksldjump"/>
            <a:extLst>
              <a:ext uri="{FF2B5EF4-FFF2-40B4-BE49-F238E27FC236}">
                <a16:creationId xmlns:a16="http://schemas.microsoft.com/office/drawing/2014/main" id="{BFE4C25A-8EEA-EF4D-B345-CFA03A41A8E3}"/>
              </a:ext>
            </a:extLst>
          </p:cNvPr>
          <p:cNvSpPr/>
          <p:nvPr/>
        </p:nvSpPr>
        <p:spPr>
          <a:xfrm>
            <a:off x="7480025" y="2114021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3</a:t>
            </a:r>
          </a:p>
        </p:txBody>
      </p:sp>
      <p:sp>
        <p:nvSpPr>
          <p:cNvPr id="146" name="Rounded Rectangle 145">
            <a:hlinkClick r:id="rId9" action="ppaction://hlinksldjump"/>
            <a:extLst>
              <a:ext uri="{FF2B5EF4-FFF2-40B4-BE49-F238E27FC236}">
                <a16:creationId xmlns:a16="http://schemas.microsoft.com/office/drawing/2014/main" id="{A9470939-591B-BB46-80B7-42642B8B28D5}"/>
              </a:ext>
            </a:extLst>
          </p:cNvPr>
          <p:cNvSpPr/>
          <p:nvPr/>
        </p:nvSpPr>
        <p:spPr>
          <a:xfrm>
            <a:off x="2693564" y="2155421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16</a:t>
            </a:r>
          </a:p>
        </p:txBody>
      </p:sp>
      <p:sp>
        <p:nvSpPr>
          <p:cNvPr id="147" name="Rounded Rectangle 146">
            <a:hlinkClick r:id="rId9" action="ppaction://hlinksldjump"/>
            <a:extLst>
              <a:ext uri="{FF2B5EF4-FFF2-40B4-BE49-F238E27FC236}">
                <a16:creationId xmlns:a16="http://schemas.microsoft.com/office/drawing/2014/main" id="{09CA9F94-0548-5545-A57B-451E7760DED5}"/>
              </a:ext>
            </a:extLst>
          </p:cNvPr>
          <p:cNvSpPr/>
          <p:nvPr/>
        </p:nvSpPr>
        <p:spPr>
          <a:xfrm>
            <a:off x="8592277" y="2114020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13</a:t>
            </a:r>
          </a:p>
        </p:txBody>
      </p:sp>
      <p:sp>
        <p:nvSpPr>
          <p:cNvPr id="148" name="Rounded Rectangle 147">
            <a:hlinkClick r:id="rId10" action="ppaction://hlinksldjump"/>
            <a:extLst>
              <a:ext uri="{FF2B5EF4-FFF2-40B4-BE49-F238E27FC236}">
                <a16:creationId xmlns:a16="http://schemas.microsoft.com/office/drawing/2014/main" id="{25D77712-8BAD-2341-A38F-D81A92DD7144}"/>
              </a:ext>
            </a:extLst>
          </p:cNvPr>
          <p:cNvSpPr/>
          <p:nvPr/>
        </p:nvSpPr>
        <p:spPr>
          <a:xfrm>
            <a:off x="2714748" y="5610065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2</a:t>
            </a:r>
          </a:p>
        </p:txBody>
      </p:sp>
      <p:sp>
        <p:nvSpPr>
          <p:cNvPr id="149" name="Rounded Rectangle 148">
            <a:hlinkClick r:id="rId10" action="ppaction://hlinksldjump"/>
            <a:extLst>
              <a:ext uri="{FF2B5EF4-FFF2-40B4-BE49-F238E27FC236}">
                <a16:creationId xmlns:a16="http://schemas.microsoft.com/office/drawing/2014/main" id="{8D165CAA-1548-C94E-91E2-49F8B407F8F8}"/>
              </a:ext>
            </a:extLst>
          </p:cNvPr>
          <p:cNvSpPr/>
          <p:nvPr/>
        </p:nvSpPr>
        <p:spPr>
          <a:xfrm>
            <a:off x="7499784" y="5610065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4</a:t>
            </a:r>
          </a:p>
        </p:txBody>
      </p:sp>
      <p:sp>
        <p:nvSpPr>
          <p:cNvPr id="150" name="Rounded Rectangle 149">
            <a:hlinkClick r:id="rId11" action="ppaction://hlinksldjump"/>
            <a:extLst>
              <a:ext uri="{FF2B5EF4-FFF2-40B4-BE49-F238E27FC236}">
                <a16:creationId xmlns:a16="http://schemas.microsoft.com/office/drawing/2014/main" id="{E4257D2E-47A2-2544-A308-5981E900B029}"/>
              </a:ext>
            </a:extLst>
          </p:cNvPr>
          <p:cNvSpPr/>
          <p:nvPr/>
        </p:nvSpPr>
        <p:spPr>
          <a:xfrm>
            <a:off x="2693564" y="3329427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14</a:t>
            </a:r>
          </a:p>
        </p:txBody>
      </p:sp>
      <p:sp>
        <p:nvSpPr>
          <p:cNvPr id="152" name="Rounded Rectangle 151">
            <a:hlinkClick r:id="rId11" action="ppaction://hlinksldjump"/>
            <a:extLst>
              <a:ext uri="{FF2B5EF4-FFF2-40B4-BE49-F238E27FC236}">
                <a16:creationId xmlns:a16="http://schemas.microsoft.com/office/drawing/2014/main" id="{86BFE31A-22AA-2C4D-80F1-417873EC7D2D}"/>
              </a:ext>
            </a:extLst>
          </p:cNvPr>
          <p:cNvSpPr/>
          <p:nvPr/>
        </p:nvSpPr>
        <p:spPr>
          <a:xfrm>
            <a:off x="7499784" y="4427563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15</a:t>
            </a:r>
          </a:p>
        </p:txBody>
      </p:sp>
      <p:sp>
        <p:nvSpPr>
          <p:cNvPr id="153" name="Rounded Rectangle 152">
            <a:hlinkClick r:id="rId12" action="ppaction://hlinksldjump"/>
            <a:extLst>
              <a:ext uri="{FF2B5EF4-FFF2-40B4-BE49-F238E27FC236}">
                <a16:creationId xmlns:a16="http://schemas.microsoft.com/office/drawing/2014/main" id="{B8B2C2EA-B937-7640-AFB2-D6AB4CE08C02}"/>
              </a:ext>
            </a:extLst>
          </p:cNvPr>
          <p:cNvSpPr/>
          <p:nvPr/>
        </p:nvSpPr>
        <p:spPr>
          <a:xfrm>
            <a:off x="7491241" y="3296523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6</a:t>
            </a:r>
          </a:p>
        </p:txBody>
      </p:sp>
      <p:sp>
        <p:nvSpPr>
          <p:cNvPr id="154" name="Rounded Rectangle 153">
            <a:hlinkClick r:id="rId12" action="ppaction://hlinksldjump"/>
            <a:extLst>
              <a:ext uri="{FF2B5EF4-FFF2-40B4-BE49-F238E27FC236}">
                <a16:creationId xmlns:a16="http://schemas.microsoft.com/office/drawing/2014/main" id="{31293F67-B6B5-1445-9AA9-B8034127FFF6}"/>
              </a:ext>
            </a:extLst>
          </p:cNvPr>
          <p:cNvSpPr/>
          <p:nvPr/>
        </p:nvSpPr>
        <p:spPr>
          <a:xfrm>
            <a:off x="2710135" y="4469638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8</a:t>
            </a:r>
          </a:p>
        </p:txBody>
      </p:sp>
      <p:sp>
        <p:nvSpPr>
          <p:cNvPr id="155" name="Rounded Rectangle 154">
            <a:hlinkClick r:id="rId13" action="ppaction://hlinksldjump"/>
            <a:extLst>
              <a:ext uri="{FF2B5EF4-FFF2-40B4-BE49-F238E27FC236}">
                <a16:creationId xmlns:a16="http://schemas.microsoft.com/office/drawing/2014/main" id="{57761FEB-4370-8F4D-9271-1C9C7735A549}"/>
              </a:ext>
            </a:extLst>
          </p:cNvPr>
          <p:cNvSpPr/>
          <p:nvPr/>
        </p:nvSpPr>
        <p:spPr>
          <a:xfrm>
            <a:off x="1547202" y="972759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9</a:t>
            </a:r>
          </a:p>
        </p:txBody>
      </p:sp>
      <p:sp>
        <p:nvSpPr>
          <p:cNvPr id="156" name="Rounded Rectangle 155">
            <a:hlinkClick r:id="rId14" action="ppaction://hlinksldjump"/>
            <a:extLst>
              <a:ext uri="{FF2B5EF4-FFF2-40B4-BE49-F238E27FC236}">
                <a16:creationId xmlns:a16="http://schemas.microsoft.com/office/drawing/2014/main" id="{6BD8BF89-A321-0D49-B5EC-8B35675274FC}"/>
              </a:ext>
            </a:extLst>
          </p:cNvPr>
          <p:cNvSpPr/>
          <p:nvPr/>
        </p:nvSpPr>
        <p:spPr>
          <a:xfrm>
            <a:off x="2693564" y="972758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12</a:t>
            </a:r>
          </a:p>
        </p:txBody>
      </p:sp>
      <p:sp>
        <p:nvSpPr>
          <p:cNvPr id="157" name="Rounded Rectangle 156">
            <a:hlinkClick r:id="rId15" action="ppaction://hlinksldjump"/>
            <a:extLst>
              <a:ext uri="{FF2B5EF4-FFF2-40B4-BE49-F238E27FC236}">
                <a16:creationId xmlns:a16="http://schemas.microsoft.com/office/drawing/2014/main" id="{9593B5F0-D5A7-0C4A-9093-55D713AA897D}"/>
              </a:ext>
            </a:extLst>
          </p:cNvPr>
          <p:cNvSpPr/>
          <p:nvPr/>
        </p:nvSpPr>
        <p:spPr>
          <a:xfrm>
            <a:off x="7480025" y="978726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5</a:t>
            </a:r>
          </a:p>
        </p:txBody>
      </p:sp>
      <p:sp>
        <p:nvSpPr>
          <p:cNvPr id="158" name="Rounded Rectangle 157">
            <a:hlinkClick r:id="rId15" action="ppaction://hlinksldjump"/>
            <a:extLst>
              <a:ext uri="{FF2B5EF4-FFF2-40B4-BE49-F238E27FC236}">
                <a16:creationId xmlns:a16="http://schemas.microsoft.com/office/drawing/2014/main" id="{F616EE32-4994-BB46-81CF-90D6F78350C7}"/>
              </a:ext>
            </a:extLst>
          </p:cNvPr>
          <p:cNvSpPr/>
          <p:nvPr/>
        </p:nvSpPr>
        <p:spPr>
          <a:xfrm>
            <a:off x="8592277" y="972757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10</a:t>
            </a:r>
          </a:p>
        </p:txBody>
      </p:sp>
      <p:sp>
        <p:nvSpPr>
          <p:cNvPr id="159" name="Rounded Rectangle 158">
            <a:hlinkClick r:id="rId13" action="ppaction://hlinksldjump"/>
            <a:extLst>
              <a:ext uri="{FF2B5EF4-FFF2-40B4-BE49-F238E27FC236}">
                <a16:creationId xmlns:a16="http://schemas.microsoft.com/office/drawing/2014/main" id="{AB366430-8FBA-494D-BC3C-67FCB8D06375}"/>
              </a:ext>
            </a:extLst>
          </p:cNvPr>
          <p:cNvSpPr/>
          <p:nvPr/>
        </p:nvSpPr>
        <p:spPr>
          <a:xfrm>
            <a:off x="9704529" y="972757"/>
            <a:ext cx="857922" cy="1025955"/>
          </a:xfrm>
          <a:prstGeom prst="roundRect">
            <a:avLst/>
          </a:prstGeom>
          <a:solidFill>
            <a:srgbClr val="4C9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11</a:t>
            </a:r>
          </a:p>
        </p:txBody>
      </p:sp>
      <p:pic>
        <p:nvPicPr>
          <p:cNvPr id="24" name="Picture 4" descr="Bitmoji Image">
            <a:extLst>
              <a:ext uri="{FF2B5EF4-FFF2-40B4-BE49-F238E27FC236}">
                <a16:creationId xmlns:a16="http://schemas.microsoft.com/office/drawing/2014/main" id="{3F415E97-B3D9-514F-B577-A9AB97363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96668" y="68570"/>
            <a:ext cx="795985" cy="7959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Bitmoji Image">
            <a:extLst>
              <a:ext uri="{FF2B5EF4-FFF2-40B4-BE49-F238E27FC236}">
                <a16:creationId xmlns:a16="http://schemas.microsoft.com/office/drawing/2014/main" id="{0F2B0524-A7B4-2846-91DE-E5D009BCE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405124" y="111022"/>
            <a:ext cx="789716" cy="7897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6370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B1726-9F2D-2446-8929-FA5C5D2E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984070"/>
            <a:ext cx="11817313" cy="1056766"/>
          </a:xfrm>
        </p:spPr>
        <p:txBody>
          <a:bodyPr/>
          <a:lstStyle/>
          <a:p>
            <a:r>
              <a:rPr lang="en-US" dirty="0"/>
              <a:t>L</a:t>
            </a:r>
            <a:r>
              <a:rPr lang="en-FR" dirty="0"/>
              <a:t>et’s refactor using s.O.L.I.D</a:t>
            </a:r>
          </a:p>
        </p:txBody>
      </p:sp>
      <p:pic>
        <p:nvPicPr>
          <p:cNvPr id="3074" name="Picture 2" descr="laptop teaching">
            <a:extLst>
              <a:ext uri="{FF2B5EF4-FFF2-40B4-BE49-F238E27FC236}">
                <a16:creationId xmlns:a16="http://schemas.microsoft.com/office/drawing/2014/main" id="{8738F0F1-8C62-C842-A538-DD2F518BF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6319" y="2438399"/>
            <a:ext cx="3279361" cy="327936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3498991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0A121-1A2F-304C-995C-C5AD751A2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00" y="183568"/>
            <a:ext cx="8302800" cy="828029"/>
          </a:xfrm>
        </p:spPr>
        <p:txBody>
          <a:bodyPr/>
          <a:lstStyle/>
          <a:p>
            <a:r>
              <a:rPr lang="en-FR" dirty="0"/>
              <a:t>exercises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4E11-2B91-E249-9B04-608CC09B47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9438" y="1252538"/>
            <a:ext cx="11150600" cy="3859789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FR" dirty="0"/>
              <a:t>ractice S.O.L.I.D principles on code examples</a:t>
            </a:r>
          </a:p>
          <a:p>
            <a:r>
              <a:rPr lang="en-US" dirty="0"/>
              <a:t>C</a:t>
            </a:r>
            <a:r>
              <a:rPr lang="en-FR" dirty="0"/>
              <a:t>lone the repository at : </a:t>
            </a:r>
            <a:r>
              <a:rPr lang="en-US" dirty="0">
                <a:solidFill>
                  <a:srgbClr val="4C91DE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https://github.com/ythirion/solid-kata</a:t>
            </a:r>
            <a:endParaRPr lang="en-US" dirty="0">
              <a:solidFill>
                <a:srgbClr val="4C91DE"/>
              </a:solidFill>
            </a:endParaRPr>
          </a:p>
          <a:p>
            <a:endParaRPr lang="en-FR" dirty="0"/>
          </a:p>
          <a:p>
            <a:r>
              <a:rPr lang="fr-FR" dirty="0" err="1"/>
              <a:t>Foreach</a:t>
            </a:r>
            <a:r>
              <a:rPr lang="fr-FR" dirty="0"/>
              <a:t> code </a:t>
            </a:r>
            <a:r>
              <a:rPr lang="fr-FR" dirty="0" err="1"/>
              <a:t>example</a:t>
            </a:r>
            <a:r>
              <a:rPr lang="fr-FR" dirty="0"/>
              <a:t>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000" dirty="0" err="1"/>
              <a:t>identify</a:t>
            </a:r>
            <a:r>
              <a:rPr lang="fr-FR" sz="2000" dirty="0"/>
              <a:t> </a:t>
            </a:r>
            <a:r>
              <a:rPr lang="fr-FR" sz="2000" dirty="0" err="1"/>
              <a:t>why</a:t>
            </a:r>
            <a:r>
              <a:rPr lang="fr-FR" sz="2000" dirty="0"/>
              <a:t> </a:t>
            </a:r>
            <a:r>
              <a:rPr lang="fr-FR" sz="2000" dirty="0" err="1"/>
              <a:t>it’s</a:t>
            </a:r>
            <a:r>
              <a:rPr lang="fr-FR" sz="2000" dirty="0"/>
              <a:t> </a:t>
            </a:r>
            <a:r>
              <a:rPr lang="fr-FR" sz="2000" dirty="0" err="1"/>
              <a:t>breaking</a:t>
            </a:r>
            <a:r>
              <a:rPr lang="fr-FR" sz="2000" dirty="0"/>
              <a:t> the </a:t>
            </a:r>
            <a:r>
              <a:rPr lang="fr-FR" sz="2000" dirty="0" err="1"/>
              <a:t>given</a:t>
            </a:r>
            <a:r>
              <a:rPr lang="fr-FR" sz="2000" dirty="0"/>
              <a:t> </a:t>
            </a:r>
            <a:r>
              <a:rPr lang="fr-FR" sz="2000" dirty="0" err="1"/>
              <a:t>principle</a:t>
            </a:r>
            <a:endParaRPr lang="fr-FR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W</a:t>
            </a:r>
            <a:r>
              <a:rPr lang="en-FR" sz="2000" dirty="0"/>
              <a:t>rite down your refactoring strategy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R</a:t>
            </a:r>
            <a:r>
              <a:rPr lang="en-FR" sz="2000" dirty="0"/>
              <a:t>efactor it</a:t>
            </a:r>
          </a:p>
        </p:txBody>
      </p:sp>
      <p:pic>
        <p:nvPicPr>
          <p:cNvPr id="4" name="Picture 2" descr="Bitmoji Image">
            <a:extLst>
              <a:ext uri="{FF2B5EF4-FFF2-40B4-BE49-F238E27FC236}">
                <a16:creationId xmlns:a16="http://schemas.microsoft.com/office/drawing/2014/main" id="{D792F4EF-66F2-A944-A195-959890D0C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37"/>
          <a:stretch/>
        </p:blipFill>
        <p:spPr bwMode="auto">
          <a:xfrm>
            <a:off x="6998208" y="2673886"/>
            <a:ext cx="3574278" cy="267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E7697E8-D806-C045-BF56-95FCE5256DAD}"/>
              </a:ext>
            </a:extLst>
          </p:cNvPr>
          <p:cNvSpPr/>
          <p:nvPr/>
        </p:nvSpPr>
        <p:spPr>
          <a:xfrm>
            <a:off x="6803136" y="2499360"/>
            <a:ext cx="1560576" cy="231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C5829C-EA5A-5E45-B49D-849EFB6DCD72}"/>
              </a:ext>
            </a:extLst>
          </p:cNvPr>
          <p:cNvSpPr/>
          <p:nvPr/>
        </p:nvSpPr>
        <p:spPr>
          <a:xfrm>
            <a:off x="8953169" y="2558062"/>
            <a:ext cx="1017767" cy="231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EDBE8-9B01-4C49-9CA6-9A23EEAB07CD}"/>
              </a:ext>
            </a:extLst>
          </p:cNvPr>
          <p:cNvSpPr/>
          <p:nvPr/>
        </p:nvSpPr>
        <p:spPr>
          <a:xfrm>
            <a:off x="8777352" y="2634901"/>
            <a:ext cx="330272" cy="77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EF7F7F-B9EB-644F-8134-2E134AD3C7E0}"/>
              </a:ext>
            </a:extLst>
          </p:cNvPr>
          <p:cNvSpPr/>
          <p:nvPr/>
        </p:nvSpPr>
        <p:spPr>
          <a:xfrm>
            <a:off x="8152352" y="2651691"/>
            <a:ext cx="330272" cy="77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536061445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B1726-9F2D-2446-8929-FA5C5D2E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984070"/>
            <a:ext cx="11817313" cy="1056766"/>
          </a:xfrm>
        </p:spPr>
        <p:txBody>
          <a:bodyPr/>
          <a:lstStyle/>
          <a:p>
            <a:r>
              <a:rPr lang="en-FR" dirty="0"/>
              <a:t>Stop solid be cupid ?</a:t>
            </a:r>
          </a:p>
        </p:txBody>
      </p:sp>
      <p:pic>
        <p:nvPicPr>
          <p:cNvPr id="1026" name="Picture 2" descr="Bitmoji Image">
            <a:extLst>
              <a:ext uri="{FF2B5EF4-FFF2-40B4-BE49-F238E27FC236}">
                <a16:creationId xmlns:a16="http://schemas.microsoft.com/office/drawing/2014/main" id="{914ED45E-0293-6D4B-B940-A536A3C3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141" y="1805651"/>
            <a:ext cx="3808633" cy="380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C43911-04A8-A649-A02C-500ADFC74F01}"/>
              </a:ext>
            </a:extLst>
          </p:cNvPr>
          <p:cNvSpPr/>
          <p:nvPr/>
        </p:nvSpPr>
        <p:spPr>
          <a:xfrm>
            <a:off x="2694972" y="6066322"/>
            <a:ext cx="6802056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FR" dirty="0">
                <a:solidFill>
                  <a:schemeClr val="bg1"/>
                </a:solidFill>
                <a:latin typeface="Chalkboard" panose="03050602040202020205" pitchFamily="66" charset="7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https://speakerdeck.com/tastapod/cupid-for-joyful-coding</a:t>
            </a:r>
            <a:endParaRPr lang="en-FR" dirty="0">
              <a:solidFill>
                <a:schemeClr val="bg1"/>
              </a:solidFill>
              <a:latin typeface="Chalkboard" panose="03050602040202020205" pitchFamily="66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421217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A6764D-99B7-C34A-A13A-8B5173976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6" y="188086"/>
            <a:ext cx="8323103" cy="41906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0297C2-9D84-514B-A27A-365EA1BCD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682" y="4378739"/>
            <a:ext cx="4721989" cy="217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657098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90F4A-84A4-A546-B641-9124A110A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48" y="428264"/>
            <a:ext cx="8085504" cy="57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3404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90F4A-84A4-A546-B641-9124A110A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43" y="1784635"/>
            <a:ext cx="4070406" cy="2913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E173BA-FDB4-A149-9F4B-A8FAAE676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172" y="190900"/>
            <a:ext cx="3417653" cy="1977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ECF120-6635-2B4C-B414-B94D0092E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5037" y="2243712"/>
            <a:ext cx="3961923" cy="21455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14FBA-9BBA-6F45-BC77-85C41A0B7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249" y="4464358"/>
            <a:ext cx="3531499" cy="2145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FF3D4F-6BE7-D74E-8962-41DAD6D93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7021" y="1537063"/>
            <a:ext cx="3619977" cy="21455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856F3C-B055-1C40-B020-896586974B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844" y="3981692"/>
            <a:ext cx="4020813" cy="203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49356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9090B-9007-9147-A5BF-43A3B74D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FR" dirty="0"/>
              <a:t>here do you stand 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B29B69-814D-1E47-B6F6-AAE5CC0B6636}"/>
              </a:ext>
            </a:extLst>
          </p:cNvPr>
          <p:cNvSpPr/>
          <p:nvPr/>
        </p:nvSpPr>
        <p:spPr>
          <a:xfrm>
            <a:off x="1657350" y="1876425"/>
            <a:ext cx="3028950" cy="3105150"/>
          </a:xfrm>
          <a:prstGeom prst="rect">
            <a:avLst/>
          </a:prstGeom>
          <a:solidFill>
            <a:srgbClr val="4C91D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sz="2800" dirty="0">
                <a:latin typeface="Bangers" pitchFamily="2" charset="77"/>
              </a:rPr>
              <a:t>No quite yet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0AE4A0-87D5-9742-B949-2D9A4131CFA5}"/>
              </a:ext>
            </a:extLst>
          </p:cNvPr>
          <p:cNvSpPr/>
          <p:nvPr/>
        </p:nvSpPr>
        <p:spPr>
          <a:xfrm>
            <a:off x="6324600" y="1381125"/>
            <a:ext cx="3028950" cy="1895475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ngers" pitchFamily="2" charset="77"/>
              </a:rPr>
              <a:t>O</a:t>
            </a:r>
            <a:r>
              <a:rPr lang="en-FR" sz="2800" dirty="0">
                <a:latin typeface="Bangers" pitchFamily="2" charset="77"/>
              </a:rPr>
              <a:t>n the way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7B0382-52A4-C640-9657-850B6A5A67E8}"/>
              </a:ext>
            </a:extLst>
          </p:cNvPr>
          <p:cNvSpPr/>
          <p:nvPr/>
        </p:nvSpPr>
        <p:spPr>
          <a:xfrm>
            <a:off x="6324600" y="3581400"/>
            <a:ext cx="3028950" cy="1895475"/>
          </a:xfrm>
          <a:prstGeom prst="rect">
            <a:avLst/>
          </a:prstGeom>
          <a:solidFill>
            <a:srgbClr val="FFC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>
                <a:latin typeface="Bangers" pitchFamily="2" charset="77"/>
              </a:rPr>
              <a:t>Ready</a:t>
            </a:r>
            <a:r>
              <a:rPr lang="fr-FR" sz="2800" dirty="0">
                <a:latin typeface="Bangers" pitchFamily="2" charset="77"/>
              </a:rPr>
              <a:t> to roll</a:t>
            </a:r>
            <a:endParaRPr lang="en-FR" sz="2800" dirty="0">
              <a:latin typeface="Bangers" pitchFamily="2" charset="77"/>
            </a:endParaRPr>
          </a:p>
        </p:txBody>
      </p:sp>
      <p:pic>
        <p:nvPicPr>
          <p:cNvPr id="5" name="Picture 2" descr="Bitmoji Image">
            <a:extLst>
              <a:ext uri="{FF2B5EF4-FFF2-40B4-BE49-F238E27FC236}">
                <a16:creationId xmlns:a16="http://schemas.microsoft.com/office/drawing/2014/main" id="{38ED0010-3234-7147-87BE-E29AAD10DD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10" t="31533" r="14196"/>
          <a:stretch/>
        </p:blipFill>
        <p:spPr bwMode="auto">
          <a:xfrm>
            <a:off x="4667250" y="2601842"/>
            <a:ext cx="1657350" cy="165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34165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5205CB3-77EC-664C-B0FA-7CBCB38DE722}" vid="{56A674BC-922A-C744-8327-F41F6F288ED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</Template>
  <TotalTime>828</TotalTime>
  <Words>606</Words>
  <Application>Microsoft Macintosh PowerPoint</Application>
  <PresentationFormat>Widescreen</PresentationFormat>
  <Paragraphs>136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Chalkboard</vt:lpstr>
      <vt:lpstr>Arial</vt:lpstr>
      <vt:lpstr>Barmeno Std Regular</vt:lpstr>
      <vt:lpstr>Nunito Sans</vt:lpstr>
      <vt:lpstr>Bangers</vt:lpstr>
      <vt:lpstr>Material</vt:lpstr>
      <vt:lpstr>S.O.L.I.D principles</vt:lpstr>
      <vt:lpstr>bad code / Good code</vt:lpstr>
      <vt:lpstr>PowerPoint Presentation</vt:lpstr>
      <vt:lpstr>Patterns and anti-patterns</vt:lpstr>
      <vt:lpstr>SRP</vt:lpstr>
      <vt:lpstr>Open closed</vt:lpstr>
      <vt:lpstr>Liskov substitution</vt:lpstr>
      <vt:lpstr>Interface segregation</vt:lpstr>
      <vt:lpstr>DI</vt:lpstr>
      <vt:lpstr>Good code / bad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refactor using s.O.L.I.D</vt:lpstr>
      <vt:lpstr>exercises</vt:lpstr>
      <vt:lpstr>Stop solid be cupid ?</vt:lpstr>
      <vt:lpstr>PowerPoint Presentation</vt:lpstr>
      <vt:lpstr>PowerPoint Presentation</vt:lpstr>
      <vt:lpstr>PowerPoint Presentation</vt:lpstr>
      <vt:lpstr>Where do you stand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code</dc:title>
  <dc:creator>Yoan Thirion</dc:creator>
  <cp:lastModifiedBy>Yoan Thirion</cp:lastModifiedBy>
  <cp:revision>63</cp:revision>
  <dcterms:created xsi:type="dcterms:W3CDTF">2020-10-20T12:29:17Z</dcterms:created>
  <dcterms:modified xsi:type="dcterms:W3CDTF">2021-07-21T14:34:30Z</dcterms:modified>
</cp:coreProperties>
</file>